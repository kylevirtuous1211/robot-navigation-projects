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3"/>
  </p:notesMasterIdLst>
  <p:sldIdLst>
    <p:sldId id="256" r:id="rId5"/>
    <p:sldId id="598" r:id="rId6"/>
    <p:sldId id="604" r:id="rId7"/>
    <p:sldId id="600" r:id="rId8"/>
    <p:sldId id="601" r:id="rId9"/>
    <p:sldId id="589" r:id="rId10"/>
    <p:sldId id="590" r:id="rId11"/>
    <p:sldId id="591" r:id="rId12"/>
    <p:sldId id="650" r:id="rId13"/>
    <p:sldId id="628" r:id="rId14"/>
    <p:sldId id="629" r:id="rId15"/>
    <p:sldId id="630" r:id="rId16"/>
    <p:sldId id="631" r:id="rId17"/>
    <p:sldId id="633" r:id="rId18"/>
    <p:sldId id="635" r:id="rId19"/>
    <p:sldId id="636" r:id="rId20"/>
    <p:sldId id="638" r:id="rId21"/>
    <p:sldId id="639" r:id="rId22"/>
    <p:sldId id="640" r:id="rId23"/>
    <p:sldId id="641" r:id="rId24"/>
    <p:sldId id="643" r:id="rId25"/>
    <p:sldId id="542" r:id="rId26"/>
    <p:sldId id="642" r:id="rId27"/>
    <p:sldId id="603" r:id="rId28"/>
    <p:sldId id="605" r:id="rId29"/>
    <p:sldId id="606" r:id="rId30"/>
    <p:sldId id="607" r:id="rId31"/>
    <p:sldId id="608" r:id="rId32"/>
    <p:sldId id="610" r:id="rId33"/>
    <p:sldId id="611" r:id="rId34"/>
    <p:sldId id="613" r:id="rId35"/>
    <p:sldId id="609" r:id="rId36"/>
    <p:sldId id="620" r:id="rId37"/>
    <p:sldId id="618" r:id="rId38"/>
    <p:sldId id="619" r:id="rId39"/>
    <p:sldId id="621" r:id="rId40"/>
    <p:sldId id="615" r:id="rId41"/>
    <p:sldId id="616" r:id="rId42"/>
    <p:sldId id="622" r:id="rId43"/>
    <p:sldId id="623" r:id="rId44"/>
    <p:sldId id="648" r:id="rId45"/>
    <p:sldId id="624" r:id="rId46"/>
    <p:sldId id="645" r:id="rId47"/>
    <p:sldId id="646" r:id="rId48"/>
    <p:sldId id="647" r:id="rId49"/>
    <p:sldId id="651" r:id="rId50"/>
    <p:sldId id="644" r:id="rId51"/>
    <p:sldId id="652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60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A1F"/>
    <a:srgbClr val="FBED85"/>
    <a:srgbClr val="FFCC66"/>
    <a:srgbClr val="FCF0C4"/>
    <a:srgbClr val="48BE81"/>
    <a:srgbClr val="5ECBF4"/>
    <a:srgbClr val="F8AB68"/>
    <a:srgbClr val="CCFF33"/>
    <a:srgbClr val="677C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752" autoAdjust="0"/>
    <p:restoredTop sz="96949" autoAdjust="0"/>
  </p:normalViewPr>
  <p:slideViewPr>
    <p:cSldViewPr snapToGrid="0" showGuides="1">
      <p:cViewPr varScale="1">
        <p:scale>
          <a:sx n="152" d="100"/>
          <a:sy n="152" d="100"/>
        </p:scale>
        <p:origin x="1064" y="176"/>
      </p:cViewPr>
      <p:guideLst>
        <p:guide orient="horz" pos="2136"/>
        <p:guide pos="608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1093CD-0BE5-4E9B-8F77-2EB9DD35CB5F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44C69-41F5-410A-B861-1F8C9D5902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066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744C69-41F5-410A-B861-1F8C9D59020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753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744C69-41F5-410A-B861-1F8C9D59020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5069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744C69-41F5-410A-B861-1F8C9D59020D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858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744C69-41F5-410A-B861-1F8C9D59020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1225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744C69-41F5-410A-B861-1F8C9D59020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1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744C69-41F5-410A-B861-1F8C9D59020D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783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744C69-41F5-410A-B861-1F8C9D59020D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292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810" y="1371600"/>
            <a:ext cx="9146381" cy="3200400"/>
          </a:xfrm>
        </p:spPr>
        <p:txBody>
          <a:bodyPr>
            <a:no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809" y="4953000"/>
            <a:ext cx="8231744" cy="1066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399">
                <a:solidFill>
                  <a:schemeClr val="tx1"/>
                </a:solidFill>
              </a:defRPr>
            </a:lvl1pPr>
            <a:lvl2pPr marL="4572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5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61E14-1AA5-4662-8FEC-DB03AAF62522}" type="datetime1">
              <a:rPr lang="en-US" smtClean="0"/>
              <a:t>3/23/26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0C8A5D9-175B-415C-80F3-A3BFB5890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0052" y="6321316"/>
            <a:ext cx="531949" cy="3080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843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Clr>
                <a:schemeClr val="accent2"/>
              </a:buClr>
              <a:defRPr/>
            </a:lvl2pPr>
            <a:lvl5pPr>
              <a:defRPr/>
            </a:lvl5pPr>
            <a:lvl6pPr>
              <a:buClr>
                <a:schemeClr val="accent2"/>
              </a:buClr>
              <a:defRPr baseline="0"/>
            </a:lvl6pPr>
            <a:lvl7pPr>
              <a:buClr>
                <a:schemeClr val="accent2"/>
              </a:buClr>
              <a:defRPr baseline="0"/>
            </a:lvl7pPr>
            <a:lvl8pPr>
              <a:buClr>
                <a:schemeClr val="accent2"/>
              </a:buClr>
              <a:defRPr baseline="0"/>
            </a:lvl8pPr>
            <a:lvl9pPr>
              <a:buClr>
                <a:schemeClr val="accent2"/>
              </a:buCl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9F2B4-B56C-4E5B-859B-89D66F56845C}" type="datetime1">
              <a:rPr lang="en-US" smtClean="0"/>
              <a:t>3/23/26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57E466B-BC8A-4073-9E8C-ED3A8BE329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0052" y="6321316"/>
            <a:ext cx="531949" cy="3080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028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811" y="2514601"/>
            <a:ext cx="9146381" cy="2819400"/>
          </a:xfrm>
        </p:spPr>
        <p:txBody>
          <a:bodyPr anchor="b">
            <a:noAutofit/>
          </a:bodyPr>
          <a:lstStyle>
            <a:lvl1pPr algn="l">
              <a:defRPr sz="6600" b="0" i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809" y="990600"/>
            <a:ext cx="8231744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399">
                <a:solidFill>
                  <a:schemeClr val="tx1"/>
                </a:solidFill>
              </a:defRPr>
            </a:lvl1pPr>
            <a:lvl2pPr marL="45721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6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7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50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72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7FCA2-3EE3-401C-A653-9B23B45AE447}" type="datetime1">
              <a:rPr lang="en-US" smtClean="0"/>
              <a:t>3/23/26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E6FD454-0194-4F79-B66D-7393490A6B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0052" y="6321316"/>
            <a:ext cx="531949" cy="3080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291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811" y="533400"/>
            <a:ext cx="9603701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815" y="1828800"/>
            <a:ext cx="4646361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7102" y="1828800"/>
            <a:ext cx="4649412" cy="4191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100F3-1C95-4199-BD13-2DB743249635}" type="datetime1">
              <a:rPr lang="en-US" smtClean="0"/>
              <a:t>3/23/26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1FB6982-2FDD-4466-A03B-6A0F5DA5E1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0052" y="6321316"/>
            <a:ext cx="531949" cy="3080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409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811" y="533400"/>
            <a:ext cx="9603701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815" y="1828800"/>
            <a:ext cx="4646361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399" b="0"/>
            </a:lvl1pPr>
            <a:lvl2pPr marL="457215" indent="0">
              <a:buNone/>
              <a:defRPr sz="2000" b="1"/>
            </a:lvl2pPr>
            <a:lvl3pPr marL="914430" indent="0">
              <a:buNone/>
              <a:defRPr sz="1800" b="1"/>
            </a:lvl3pPr>
            <a:lvl4pPr marL="1371645" indent="0">
              <a:buNone/>
              <a:defRPr sz="1600" b="1"/>
            </a:lvl4pPr>
            <a:lvl5pPr marL="1828861" indent="0">
              <a:buNone/>
              <a:defRPr sz="1600" b="1"/>
            </a:lvl5pPr>
            <a:lvl6pPr marL="2286076" indent="0">
              <a:buNone/>
              <a:defRPr sz="1600" b="1"/>
            </a:lvl6pPr>
            <a:lvl7pPr marL="2743291" indent="0">
              <a:buNone/>
              <a:defRPr sz="1600" b="1"/>
            </a:lvl7pPr>
            <a:lvl8pPr marL="3200506" indent="0">
              <a:buNone/>
              <a:defRPr sz="1600" b="1"/>
            </a:lvl8pPr>
            <a:lvl9pPr marL="365772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815" y="2667000"/>
            <a:ext cx="4646361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 baseline="0"/>
            </a:lvl6pPr>
            <a:lvl7pPr>
              <a:defRPr sz="1400" baseline="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153" y="1828800"/>
            <a:ext cx="4646361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399" b="0"/>
            </a:lvl1pPr>
            <a:lvl2pPr marL="457215" indent="0">
              <a:buNone/>
              <a:defRPr sz="2000" b="1"/>
            </a:lvl2pPr>
            <a:lvl3pPr marL="914430" indent="0">
              <a:buNone/>
              <a:defRPr sz="1800" b="1"/>
            </a:lvl3pPr>
            <a:lvl4pPr marL="1371645" indent="0">
              <a:buNone/>
              <a:defRPr sz="1600" b="1"/>
            </a:lvl4pPr>
            <a:lvl5pPr marL="1828861" indent="0">
              <a:buNone/>
              <a:defRPr sz="1600" b="1"/>
            </a:lvl5pPr>
            <a:lvl6pPr marL="2286076" indent="0">
              <a:buNone/>
              <a:defRPr sz="1600" b="1"/>
            </a:lvl6pPr>
            <a:lvl7pPr marL="2743291" indent="0">
              <a:buNone/>
              <a:defRPr sz="1600" b="1"/>
            </a:lvl7pPr>
            <a:lvl8pPr marL="3200506" indent="0">
              <a:buNone/>
              <a:defRPr sz="1600" b="1"/>
            </a:lvl8pPr>
            <a:lvl9pPr marL="3657721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153" y="2667000"/>
            <a:ext cx="4646361" cy="3352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71E57-BF4C-4AA8-8479-F514B231BF1D}" type="datetime1">
              <a:rPr lang="en-US" smtClean="0"/>
              <a:t>3/23/26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5505C44-79DA-499E-B291-206CB73EE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0052" y="6321316"/>
            <a:ext cx="531949" cy="3080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26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E8B22-0F68-45A9-94E0-BE4F43407DBA}" type="datetime1">
              <a:rPr lang="en-US" smtClean="0"/>
              <a:t>3/23/26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57BCA-9973-451A-95A6-E91AAFF1D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0052" y="6321316"/>
            <a:ext cx="531949" cy="3080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283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E190-824B-4B6A-96A5-9D46F6B9692B}" type="datetime1">
              <a:rPr lang="en-US" smtClean="0"/>
              <a:t>3/23/26</a:t>
            </a:fld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791F9FC-B2A4-4BB9-BA06-9DC491DC99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0052" y="6321316"/>
            <a:ext cx="531949" cy="3080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119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834" y="2590800"/>
            <a:ext cx="3277452" cy="1924050"/>
          </a:xfrm>
        </p:spPr>
        <p:txBody>
          <a:bodyPr anchor="b">
            <a:normAutofit/>
          </a:bodyPr>
          <a:lstStyle>
            <a:lvl1pPr algn="l">
              <a:defRPr sz="3201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361" y="838200"/>
            <a:ext cx="6173810" cy="51816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834" y="4648200"/>
            <a:ext cx="3277452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15" indent="0">
              <a:buNone/>
              <a:defRPr sz="1200"/>
            </a:lvl2pPr>
            <a:lvl3pPr marL="914430" indent="0">
              <a:buNone/>
              <a:defRPr sz="1000"/>
            </a:lvl3pPr>
            <a:lvl4pPr marL="1371645" indent="0">
              <a:buNone/>
              <a:defRPr sz="900"/>
            </a:lvl4pPr>
            <a:lvl5pPr marL="1828861" indent="0">
              <a:buNone/>
              <a:defRPr sz="900"/>
            </a:lvl5pPr>
            <a:lvl6pPr marL="2286076" indent="0">
              <a:buNone/>
              <a:defRPr sz="900"/>
            </a:lvl6pPr>
            <a:lvl7pPr marL="2743291" indent="0">
              <a:buNone/>
              <a:defRPr sz="900"/>
            </a:lvl7pPr>
            <a:lvl8pPr marL="3200506" indent="0">
              <a:buNone/>
              <a:defRPr sz="900"/>
            </a:lvl8pPr>
            <a:lvl9pPr marL="3657721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9DF85-7469-41F2-9032-B36969242EFF}" type="datetime1">
              <a:rPr lang="en-US" smtClean="0"/>
              <a:t>3/23/26</a:t>
            </a:fld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2F4EBBF-5303-495E-84B3-C7574DB4C3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0052" y="6321316"/>
            <a:ext cx="531949" cy="3080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106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834" y="2590800"/>
            <a:ext cx="3277452" cy="1924050"/>
          </a:xfrm>
        </p:spPr>
        <p:txBody>
          <a:bodyPr anchor="b">
            <a:normAutofit/>
          </a:bodyPr>
          <a:lstStyle>
            <a:lvl1pPr algn="l">
              <a:defRPr sz="3201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105141" y="457200"/>
            <a:ext cx="6631127" cy="5943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486245" y="836610"/>
            <a:ext cx="5868929" cy="5183190"/>
          </a:xfrm>
          <a:solidFill>
            <a:schemeClr val="bg2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399"/>
            </a:lvl1pPr>
            <a:lvl2pPr marL="457215" indent="0">
              <a:buNone/>
              <a:defRPr sz="2801"/>
            </a:lvl2pPr>
            <a:lvl3pPr marL="914430" indent="0">
              <a:buNone/>
              <a:defRPr sz="2399"/>
            </a:lvl3pPr>
            <a:lvl4pPr marL="1371645" indent="0">
              <a:buNone/>
              <a:defRPr sz="2000"/>
            </a:lvl4pPr>
            <a:lvl5pPr marL="1828861" indent="0">
              <a:buNone/>
              <a:defRPr sz="2000"/>
            </a:lvl5pPr>
            <a:lvl6pPr marL="2286076" indent="0">
              <a:buNone/>
              <a:defRPr sz="2000"/>
            </a:lvl6pPr>
            <a:lvl7pPr marL="2743291" indent="0">
              <a:buNone/>
              <a:defRPr sz="2000"/>
            </a:lvl7pPr>
            <a:lvl8pPr marL="3200506" indent="0">
              <a:buNone/>
              <a:defRPr sz="2000"/>
            </a:lvl8pPr>
            <a:lvl9pPr marL="3657721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834" y="4648200"/>
            <a:ext cx="3277452" cy="137160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15" indent="0">
              <a:buNone/>
              <a:defRPr sz="1200"/>
            </a:lvl2pPr>
            <a:lvl3pPr marL="914430" indent="0">
              <a:buNone/>
              <a:defRPr sz="1000"/>
            </a:lvl3pPr>
            <a:lvl4pPr marL="1371645" indent="0">
              <a:buNone/>
              <a:defRPr sz="900"/>
            </a:lvl4pPr>
            <a:lvl5pPr marL="1828861" indent="0">
              <a:buNone/>
              <a:defRPr sz="900"/>
            </a:lvl5pPr>
            <a:lvl6pPr marL="2286076" indent="0">
              <a:buNone/>
              <a:defRPr sz="900"/>
            </a:lvl6pPr>
            <a:lvl7pPr marL="2743291" indent="0">
              <a:buNone/>
              <a:defRPr sz="900"/>
            </a:lvl7pPr>
            <a:lvl8pPr marL="3200506" indent="0">
              <a:buNone/>
              <a:defRPr sz="900"/>
            </a:lvl8pPr>
            <a:lvl9pPr marL="3657721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35FB98A-B6BA-4FA5-B9D6-5EB520A1F6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0052" y="6321316"/>
            <a:ext cx="531949" cy="3080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3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 baseline="0"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0631B-BAB4-49D0-8A78-4C6F6CBB926C}" type="datetime1">
              <a:rPr lang="en-US" smtClean="0"/>
              <a:t>3/23/26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93A8DB5-479E-48ED-A080-694FBBD262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0052" y="6321316"/>
            <a:ext cx="531949" cy="3080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29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4552" y="533400"/>
            <a:ext cx="1371957" cy="5592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812" y="533400"/>
            <a:ext cx="8079305" cy="5592764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94FAD-B028-4C62-9293-787C8AD2008E}" type="datetime1">
              <a:rPr lang="en-US" smtClean="0"/>
              <a:t>3/23/26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CC51C9B-9509-479E-8179-33A3D11C90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0052" y="6321316"/>
            <a:ext cx="531949" cy="3080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992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/>
          <p:cNvGrpSpPr/>
          <p:nvPr/>
        </p:nvGrpSpPr>
        <p:grpSpPr>
          <a:xfrm>
            <a:off x="1" y="0"/>
            <a:ext cx="12192000" cy="6858000"/>
            <a:chOff x="-1" y="0"/>
            <a:chExt cx="12188825" cy="6858000"/>
          </a:xfrm>
        </p:grpSpPr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4164514" y="6705600"/>
              <a:ext cx="8024310" cy="152400"/>
            </a:xfrm>
            <a:prstGeom prst="rect">
              <a:avLst/>
            </a:prstGeom>
            <a:gradFill rotWithShape="0">
              <a:gsLst>
                <a:gs pos="0">
                  <a:schemeClr val="accent5">
                    <a:lumMod val="20000"/>
                    <a:lumOff val="8000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399">
                <a:latin typeface="굴림" pitchFamily="50" charset="-127"/>
              </a:endParaRP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11680956" y="1981200"/>
              <a:ext cx="507868" cy="4267200"/>
            </a:xfrm>
            <a:prstGeom prst="rect">
              <a:avLst/>
            </a:prstGeom>
            <a:gradFill rotWithShape="0">
              <a:gsLst>
                <a:gs pos="0">
                  <a:schemeClr val="tx2">
                    <a:lumMod val="20000"/>
                    <a:lumOff val="8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399">
                <a:latin typeface="굴림" pitchFamily="50" charset="-127"/>
              </a:endParaRP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-1" y="5257800"/>
              <a:ext cx="609441" cy="152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399">
                <a:latin typeface="굴림" pitchFamily="50" charset="-127"/>
              </a:endParaRP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-1" y="5410200"/>
              <a:ext cx="609441" cy="144780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399">
                <a:latin typeface="굴림" pitchFamily="50" charset="-127"/>
              </a:endParaRPr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11680956" y="0"/>
              <a:ext cx="507868" cy="1981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399">
                <a:latin typeface="굴림" pitchFamily="50" charset="-127"/>
              </a:endParaRP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7618015" y="0"/>
              <a:ext cx="4062942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3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399">
                <a:latin typeface="굴림" pitchFamily="50" charset="-127"/>
              </a:endParaRPr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609440" y="304800"/>
              <a:ext cx="711015" cy="762000"/>
            </a:xfrm>
            <a:prstGeom prst="rect">
              <a:avLst/>
            </a:prstGeom>
            <a:solidFill>
              <a:schemeClr val="bg2">
                <a:lumMod val="50000"/>
                <a:alpha val="5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399">
                <a:latin typeface="굴림" pitchFamily="50" charset="-127"/>
              </a:endParaRPr>
            </a:p>
          </p:txBody>
        </p:sp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-1" y="1066800"/>
              <a:ext cx="609441" cy="4191000"/>
            </a:xfrm>
            <a:prstGeom prst="rect">
              <a:avLst/>
            </a:prstGeom>
            <a:gradFill rotWithShape="0">
              <a:gsLst>
                <a:gs pos="0">
                  <a:schemeClr val="bg2">
                    <a:lumMod val="50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399">
                <a:latin typeface="굴림" pitchFamily="50" charset="-127"/>
              </a:endParaRPr>
            </a:p>
          </p:txBody>
        </p:sp>
        <p:sp>
          <p:nvSpPr>
            <p:cNvPr id="16" name="Rectangle 16"/>
            <p:cNvSpPr>
              <a:spLocks noChangeArrowheads="1"/>
            </p:cNvSpPr>
            <p:nvPr/>
          </p:nvSpPr>
          <p:spPr bwMode="auto">
            <a:xfrm>
              <a:off x="-1" y="304800"/>
              <a:ext cx="609441" cy="762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399">
                <a:latin typeface="굴림" pitchFamily="50" charset="-127"/>
              </a:endParaRPr>
            </a:p>
          </p:txBody>
        </p:sp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-1" y="0"/>
              <a:ext cx="1320456" cy="30480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kumimoji="1" lang="en-US" sz="2399">
                <a:latin typeface="굴림" pitchFamily="50" charset="-127"/>
              </a:endParaRPr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1320455" y="0"/>
              <a:ext cx="6297560" cy="3048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sz="2399">
                <a:latin typeface="굴림" pitchFamily="50" charset="-127"/>
              </a:endParaRPr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 flipV="1">
              <a:off x="609440" y="304800"/>
              <a:ext cx="0" cy="6553200"/>
            </a:xfrm>
            <a:prstGeom prst="line">
              <a:avLst/>
            </a:prstGeom>
            <a:noFill/>
            <a:ln w="7620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609440" y="6705600"/>
              <a:ext cx="11579384" cy="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 flipV="1">
              <a:off x="11680956" y="0"/>
              <a:ext cx="0" cy="6705600"/>
            </a:xfrm>
            <a:prstGeom prst="line">
              <a:avLst/>
            </a:prstGeom>
            <a:noFill/>
            <a:ln w="571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-1" y="304800"/>
              <a:ext cx="12188825" cy="0"/>
            </a:xfrm>
            <a:prstGeom prst="line">
              <a:avLst/>
            </a:prstGeom>
            <a:noFill/>
            <a:ln w="3810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 flipH="1">
              <a:off x="7618015" y="457200"/>
              <a:ext cx="4570809" cy="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 flipV="1">
              <a:off x="7618015" y="0"/>
              <a:ext cx="0" cy="45720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>
              <a:off x="11680956" y="1981200"/>
              <a:ext cx="5078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1320455" y="0"/>
              <a:ext cx="0" cy="1066800"/>
            </a:xfrm>
            <a:prstGeom prst="line">
              <a:avLst/>
            </a:prstGeom>
            <a:noFill/>
            <a:ln w="19050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 flipH="1">
              <a:off x="-1" y="1066800"/>
              <a:ext cx="1320456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30" name="Line 30"/>
            <p:cNvSpPr>
              <a:spLocks noChangeShapeType="1"/>
            </p:cNvSpPr>
            <p:nvPr/>
          </p:nvSpPr>
          <p:spPr bwMode="auto">
            <a:xfrm flipH="1">
              <a:off x="-1" y="5257800"/>
              <a:ext cx="609441" cy="0"/>
            </a:xfrm>
            <a:prstGeom prst="line">
              <a:avLst/>
            </a:prstGeom>
            <a:noFill/>
            <a:ln w="2857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31" name="Line 31"/>
            <p:cNvSpPr>
              <a:spLocks noChangeShapeType="1"/>
            </p:cNvSpPr>
            <p:nvPr/>
          </p:nvSpPr>
          <p:spPr bwMode="auto">
            <a:xfrm flipH="1">
              <a:off x="-1" y="5410200"/>
              <a:ext cx="609441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811" y="533400"/>
            <a:ext cx="9603701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811" y="1828800"/>
            <a:ext cx="96037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8345" y="6172207"/>
            <a:ext cx="686425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1255" y="6172207"/>
            <a:ext cx="1320403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1A0C8FF6-8867-4D16-B317-2B9F7CCBB587}" type="datetime1">
              <a:rPr lang="en-US" smtClean="0"/>
              <a:t>3/23/26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0052" y="6321316"/>
            <a:ext cx="531949" cy="3080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/>
                </a:solidFill>
              </a:defRPr>
            </a:lvl1pPr>
          </a:lstStyle>
          <a:p>
            <a:fld id="{E5137D0E-4A4F-4307-8994-C1891D747D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222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30" rtl="0" eaLnBrk="1" latinLnBrk="0" hangingPunct="1">
        <a:lnSpc>
          <a:spcPct val="90000"/>
        </a:lnSpc>
        <a:spcBef>
          <a:spcPct val="0"/>
        </a:spcBef>
        <a:buNone/>
        <a:defRPr sz="320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3845" indent="-223845" algn="l" defTabSz="914430" rtl="0" eaLnBrk="1" latinLnBrk="0" hangingPunct="1">
        <a:lnSpc>
          <a:spcPct val="90000"/>
        </a:lnSpc>
        <a:spcBef>
          <a:spcPts val="18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37" indent="-223845" algn="l" defTabSz="914430" rtl="0" eaLnBrk="1" latinLnBrk="0" hangingPunct="1">
        <a:lnSpc>
          <a:spcPct val="90000"/>
        </a:lnSpc>
        <a:spcBef>
          <a:spcPts val="800"/>
        </a:spcBef>
        <a:buClr>
          <a:schemeClr val="accent2"/>
        </a:buClr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41388" indent="-171456" algn="l" defTabSz="91443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6820" indent="-173043" algn="l" defTabSz="91443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8129" indent="-173043" algn="l" defTabSz="914430" rtl="0" eaLnBrk="1" latinLnBrk="0" hangingPunct="1">
        <a:lnSpc>
          <a:spcPct val="90000"/>
        </a:lnSpc>
        <a:spcBef>
          <a:spcPts val="6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444800" indent="-173742" algn="l" defTabSz="91443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82551" indent="-173742" algn="l" defTabSz="91443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304" indent="-173742" algn="l" defTabSz="91443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158056" indent="-173742" algn="l" defTabSz="91443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5" algn="l" defTabSz="9144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30" algn="l" defTabSz="9144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45" algn="l" defTabSz="9144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61" algn="l" defTabSz="9144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76" algn="l" defTabSz="9144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91" algn="l" defTabSz="9144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06" algn="l" defTabSz="9144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21" algn="l" defTabSz="9144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nitahu@cs.nthu.edu.tw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IA-Playful-AI-Arena/Proly/#observation-spac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AIA-Playful-AI-Arena/Proly/releases/tag/1.4.0-beta.1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hyperlink" Target="http://localhost:6006/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23AE7-9271-4EE2-85D6-FDB571A0FE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Robotic Navigation </a:t>
            </a:r>
            <a:br>
              <a:rPr lang="en-US" dirty="0"/>
            </a:br>
            <a:r>
              <a:rPr lang="en-US" dirty="0"/>
              <a:t>and Exploration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06689-A434-465F-8865-F7F79CDA26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2808" y="4953000"/>
            <a:ext cx="8768673" cy="1066800"/>
          </a:xfrm>
        </p:spPr>
        <p:txBody>
          <a:bodyPr/>
          <a:lstStyle/>
          <a:p>
            <a:r>
              <a:rPr lang="en-US" altLang="zh-TW" dirty="0"/>
              <a:t>HW3: Deep Reinforcement Learning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A38315-B9EB-4809-B326-3CF7C2ACCED7}"/>
              </a:ext>
            </a:extLst>
          </p:cNvPr>
          <p:cNvSpPr/>
          <p:nvPr/>
        </p:nvSpPr>
        <p:spPr>
          <a:xfrm>
            <a:off x="1598612" y="5486400"/>
            <a:ext cx="2895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Min-Chun Hu</a:t>
            </a:r>
          </a:p>
          <a:p>
            <a:r>
              <a:rPr lang="en-US" sz="2000" dirty="0"/>
              <a:t>CS, NTHU</a:t>
            </a:r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259AFB0C-1BAF-4338-8F14-51D62D667DA5}"/>
              </a:ext>
            </a:extLst>
          </p:cNvPr>
          <p:cNvSpPr txBox="1">
            <a:spLocks/>
          </p:cNvSpPr>
          <p:nvPr/>
        </p:nvSpPr>
        <p:spPr>
          <a:xfrm>
            <a:off x="3351212" y="5530849"/>
            <a:ext cx="2667000" cy="336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3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2"/>
              </a:buClr>
              <a:buFont typeface="Arial" pitchFamily="34" charset="0"/>
              <a:buNone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15" indent="0" algn="ctr" defTabSz="91443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30" indent="0" algn="ctr" defTabSz="91443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45" indent="0" algn="ctr" defTabSz="91443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61" indent="0" algn="ctr" defTabSz="91443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76" indent="0" algn="ctr" defTabSz="91443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91" indent="0" algn="ctr" defTabSz="91443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506" indent="0" algn="ctr" defTabSz="91443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721" indent="0" algn="ctr" defTabSz="914430" rtl="0" eaLnBrk="1" latinLnBrk="0" hangingPunct="1">
              <a:lnSpc>
                <a:spcPct val="90000"/>
              </a:lnSpc>
              <a:spcBef>
                <a:spcPts val="6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600">
                <a:hlinkClick r:id="rId2"/>
              </a:rPr>
              <a:t>anitahu@cs.nthu.edu.tw</a:t>
            </a:r>
            <a:endParaRPr lang="en-US" altLang="zh-TW" sz="1600"/>
          </a:p>
        </p:txBody>
      </p:sp>
    </p:spTree>
    <p:extLst>
      <p:ext uri="{BB962C8B-B14F-4D97-AF65-F5344CB8AC3E}">
        <p14:creationId xmlns:p14="http://schemas.microsoft.com/office/powerpoint/2010/main" val="1485468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4FD15-FA91-800E-4462-4021EC6FA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HW3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5778C-FA08-728F-5EC0-3DAEFCCD1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endParaRPr lang="en-TW" dirty="0"/>
          </a:p>
          <a:p>
            <a:pPr marL="457200" indent="-457200">
              <a:buFont typeface="+mj-lt"/>
              <a:buAutoNum type="arabicPeriod"/>
            </a:pPr>
            <a:r>
              <a:rPr lang="en-TW" b="1" dirty="0"/>
              <a:t>HW3-1: Deep Reinforcement Learning on Path Tracking (40%)</a:t>
            </a:r>
          </a:p>
          <a:p>
            <a:pPr lvl="1"/>
            <a:r>
              <a:rPr lang="en-TW" dirty="0"/>
              <a:t>Observation/action/reward fixed </a:t>
            </a:r>
            <a:r>
              <a:rPr lang="en-TW" dirty="0">
                <a:sym typeface="Wingdings" pitchFamily="2" charset="2"/>
              </a:rPr>
              <a:t></a:t>
            </a:r>
            <a:r>
              <a:rPr lang="en-TW" dirty="0"/>
              <a:t> </a:t>
            </a:r>
            <a:r>
              <a:rPr lang="en-TW" i="1" dirty="0"/>
              <a:t>complete PPO/agent implementation</a:t>
            </a:r>
          </a:p>
          <a:p>
            <a:pPr marL="457200" indent="-457200">
              <a:buFont typeface="+mj-lt"/>
              <a:buAutoNum type="arabicPeriod"/>
            </a:pPr>
            <a:endParaRPr lang="en-TW" dirty="0"/>
          </a:p>
          <a:p>
            <a:pPr marL="457200" indent="-457200">
              <a:buFont typeface="+mj-lt"/>
              <a:buAutoNum type="arabicPeriod"/>
            </a:pPr>
            <a:r>
              <a:rPr lang="en-TW" b="1" dirty="0"/>
              <a:t>HW3-2: Deep Reinforcement Learning on Proly (50%)</a:t>
            </a:r>
          </a:p>
          <a:p>
            <a:pPr lvl="1"/>
            <a:r>
              <a:rPr lang="en-TW" dirty="0"/>
              <a:t>Algorithm/Observation/Action fixed </a:t>
            </a:r>
            <a:r>
              <a:rPr lang="en-TW" dirty="0">
                <a:sym typeface="Wingdings" pitchFamily="2" charset="2"/>
              </a:rPr>
              <a:t> </a:t>
            </a:r>
            <a:r>
              <a:rPr lang="en-TW" i="1" dirty="0"/>
              <a:t>complete reward design</a:t>
            </a:r>
          </a:p>
          <a:p>
            <a:pPr marL="621992" lvl="1" indent="-342900">
              <a:buFont typeface="+mj-lt"/>
              <a:buAutoNum type="arabicPeriod"/>
            </a:pPr>
            <a:endParaRPr lang="en-TW" dirty="0"/>
          </a:p>
          <a:p>
            <a:pPr marL="457200" indent="-457200">
              <a:buFont typeface="+mj-lt"/>
              <a:buAutoNum type="arabicPeriod"/>
            </a:pPr>
            <a:r>
              <a:rPr lang="en-TW" b="1" dirty="0"/>
              <a:t>Report (10%)</a:t>
            </a:r>
          </a:p>
          <a:p>
            <a:pPr lvl="1"/>
            <a:r>
              <a:rPr lang="en-TW" dirty="0"/>
              <a:t>Write two reports for HW3-1 and HW3-2, 5% each</a:t>
            </a:r>
          </a:p>
          <a:p>
            <a:pPr lvl="1"/>
            <a:r>
              <a:rPr lang="en-US" dirty="0"/>
              <a:t>Briefly explain your implementation, writing a lot won’t get you more points!</a:t>
            </a:r>
            <a:endParaRPr lang="en-TW" dirty="0"/>
          </a:p>
          <a:p>
            <a:pPr marL="621992" lvl="1" indent="-342900">
              <a:buFont typeface="+mj-lt"/>
              <a:buAutoNum type="arabicPeriod"/>
            </a:pPr>
            <a:endParaRPr lang="en-T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E76E2-989F-24CE-812F-937C7CE269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64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001ABE-79C0-1E08-8150-A3B5188AF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HW3-1: Path Tracking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93F6D69-C4CB-68FC-EE8D-DD7D9D8443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749AC7-E6E7-E55B-4D81-49E748F5AC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47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27636F7-66F8-C842-056A-DCDD61444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PathTracking Environment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27B0E5-4224-B4F3-87F5-EF556CE8F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W" dirty="0"/>
              <a:t>Controls the car to follow the given path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881E7-E2AA-6C6B-B6C0-1520BE65C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7" name="圖片 9">
            <a:extLst>
              <a:ext uri="{FF2B5EF4-FFF2-40B4-BE49-F238E27FC236}">
                <a16:creationId xmlns:a16="http://schemas.microsoft.com/office/drawing/2014/main" id="{0A809CB2-61BC-980C-F477-C41916DC8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31" y="2500381"/>
            <a:ext cx="3820935" cy="3820935"/>
          </a:xfrm>
          <a:prstGeom prst="rect">
            <a:avLst/>
          </a:prstGeom>
          <a:ln w="285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8" name="圖片 14">
            <a:extLst>
              <a:ext uri="{FF2B5EF4-FFF2-40B4-BE49-F238E27FC236}">
                <a16:creationId xmlns:a16="http://schemas.microsoft.com/office/drawing/2014/main" id="{6D7DF697-C2DC-4294-7AA5-6E8441CF18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464" b="859"/>
          <a:stretch/>
        </p:blipFill>
        <p:spPr>
          <a:xfrm>
            <a:off x="6466792" y="2500381"/>
            <a:ext cx="3849043" cy="3820935"/>
          </a:xfrm>
          <a:prstGeom prst="rect">
            <a:avLst/>
          </a:prstGeom>
          <a:ln w="285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3538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C6D13-2421-CDDC-A0B2-AE9D3B7B6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PathTracking Environment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2D22B2-F134-64A1-92E4-F25DE9430B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2811" y="1828799"/>
                <a:ext cx="9603701" cy="4800601"/>
              </a:xfrm>
            </p:spPr>
            <p:txBody>
              <a:bodyPr>
                <a:normAutofit/>
              </a:bodyPr>
              <a:lstStyle/>
              <a:p>
                <a:r>
                  <a:rPr lang="en-TW" sz="1600" b="1" dirty="0"/>
                  <a:t>Observation Space: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</m:oMath>
                </a14:m>
                <a:endParaRPr lang="en-US" sz="1600" dirty="0"/>
              </a:p>
              <a:p>
                <a:pPr lvl="1"/>
                <a:r>
                  <a:rPr lang="en-TW" sz="1600" b="1" dirty="0"/>
                  <a:t>Elements 0-2:</a:t>
                </a:r>
                <a:r>
                  <a:rPr lang="en-TW" sz="1600" dirty="0"/>
                  <a:t> Car pose from 2 timestep ago </a:t>
                </a:r>
                <a:r>
                  <a:rPr lang="en-TW" sz="1600" i="1" dirty="0"/>
                  <a:t>(x, y, yaw)</a:t>
                </a:r>
              </a:p>
              <a:p>
                <a:pPr lvl="1"/>
                <a:r>
                  <a:rPr lang="en-TW" sz="1600" b="1" dirty="0"/>
                  <a:t>Elements 3-5:</a:t>
                </a:r>
                <a:r>
                  <a:rPr lang="en-TW" sz="1600" dirty="0"/>
                  <a:t> Car pose from 1 timestep ago </a:t>
                </a:r>
                <a:r>
                  <a:rPr lang="en-TW" sz="1600" i="1" dirty="0"/>
                  <a:t>(x, y, yaw)</a:t>
                </a:r>
              </a:p>
              <a:p>
                <a:pPr lvl="1"/>
                <a:r>
                  <a:rPr lang="en-TW" sz="1600" b="1" dirty="0"/>
                  <a:t>Elements 6-7: </a:t>
                </a:r>
                <a:r>
                  <a:rPr lang="en-TW" sz="1600" dirty="0"/>
                  <a:t>Coordinate of the nearest point on path </a:t>
                </a:r>
                <a:r>
                  <a:rPr lang="en-TW" sz="1600" i="1" dirty="0"/>
                  <a:t>(x, y)</a:t>
                </a:r>
              </a:p>
              <a:p>
                <a:pPr lvl="1"/>
                <a:r>
                  <a:rPr lang="en-TW" sz="1600" b="1" dirty="0"/>
                  <a:t>Elements 8-13: </a:t>
                </a:r>
                <a:r>
                  <a:rPr lang="en-TW" sz="1600" dirty="0"/>
                  <a:t>Coordinates of the next 3 waypoint on path </a:t>
                </a:r>
                <a:r>
                  <a:rPr lang="en-TW" sz="1600" i="1" dirty="0"/>
                  <a:t>(x,y)</a:t>
                </a:r>
              </a:p>
              <a:p>
                <a:pPr lvl="1"/>
                <a:r>
                  <a:rPr lang="en-TW" sz="1600" dirty="0"/>
                  <a:t>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 ∈</m:t>
                    </m:r>
                    <m:r>
                      <m:rPr>
                        <m:lit/>
                      </m:rPr>
                      <a:rPr lang="en-US" sz="1600" b="0" i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0, 1]</m:t>
                    </m:r>
                  </m:oMath>
                </a14:m>
                <a:r>
                  <a:rPr lang="en-TW" sz="1600" dirty="0"/>
                  <a:t> and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b="0" smtClean="0">
                        <a:latin typeface="Cambria Math" panose="02040503050406030204" pitchFamily="18" charset="0"/>
                      </a:rPr>
                      <m:t>yaw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0,2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endParaRPr lang="en-TW" sz="1600" dirty="0"/>
              </a:p>
              <a:p>
                <a:pPr>
                  <a:lnSpc>
                    <a:spcPct val="150000"/>
                  </a:lnSpc>
                </a:pPr>
                <a:r>
                  <a:rPr lang="en-TW" sz="1600" b="1" dirty="0"/>
                  <a:t>Action Space: </a:t>
                </a:r>
                <a:r>
                  <a:rPr lang="en-TW" sz="1600" dirty="0"/>
                  <a:t>Angular velocity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−1,1</m:t>
                        </m:r>
                      </m:e>
                    </m:d>
                  </m:oMath>
                </a14:m>
                <a:endParaRPr lang="en-TW" sz="1600" dirty="0"/>
              </a:p>
              <a:p>
                <a:pPr>
                  <a:lnSpc>
                    <a:spcPct val="150000"/>
                  </a:lnSpc>
                </a:pPr>
                <a:r>
                  <a:rPr lang="en-TW" sz="1600" b="1" dirty="0"/>
                  <a:t>Reward: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=0.8 </m:t>
                    </m:r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+0.2</m:t>
                    </m:r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US" sz="16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−0.1</m:t>
                            </m:r>
                            <m:r>
                              <m:rPr>
                                <m:lit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lit/>
                                  </m:r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p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r>
                  <a:rPr lang="en-TW" sz="1600" dirty="0"/>
                  <a:t>: Distance reward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−0.1</m:t>
                            </m:r>
                            <m:r>
                              <m:rPr>
                                <m:lit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lit/>
                                  </m:r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p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r>
                  <a:rPr lang="en-TW" sz="1600" dirty="0"/>
                  <a:t>: Yaw reward</a:t>
                </a:r>
              </a:p>
              <a:p>
                <a:pPr lvl="1"/>
                <a:endParaRPr lang="en-TW" sz="1600" dirty="0"/>
              </a:p>
              <a:p>
                <a:pPr lvl="1"/>
                <a:r>
                  <a:rPr lang="en-TW" sz="1600" dirty="0"/>
                  <a:t> </a:t>
                </a:r>
              </a:p>
              <a:p>
                <a:pPr lvl="1"/>
                <a:endParaRPr lang="en-TW" sz="1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2D22B2-F134-64A1-92E4-F25DE9430B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2811" y="1828799"/>
                <a:ext cx="9603701" cy="4800601"/>
              </a:xfrm>
              <a:blipFill>
                <a:blip r:embed="rId2"/>
                <a:stretch>
                  <a:fillRect l="-264" t="-1055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42D82-6E98-DEB7-F4FF-099CB0D541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5" name="圖片 14">
            <a:extLst>
              <a:ext uri="{FF2B5EF4-FFF2-40B4-BE49-F238E27FC236}">
                <a16:creationId xmlns:a16="http://schemas.microsoft.com/office/drawing/2014/main" id="{D3488464-AA73-1EC4-B0F4-577E048796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464" b="859"/>
          <a:stretch/>
        </p:blipFill>
        <p:spPr>
          <a:xfrm>
            <a:off x="8827052" y="1175196"/>
            <a:ext cx="2480663" cy="2462548"/>
          </a:xfrm>
          <a:prstGeom prst="rect">
            <a:avLst/>
          </a:prstGeom>
          <a:ln w="285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8" name="圖片 12">
            <a:extLst>
              <a:ext uri="{FF2B5EF4-FFF2-40B4-BE49-F238E27FC236}">
                <a16:creationId xmlns:a16="http://schemas.microsoft.com/office/drawing/2014/main" id="{0222DB1A-80E7-F874-DD58-3A40E2DF4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9951" y="5631697"/>
            <a:ext cx="3536496" cy="916122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D438BB4-DE5B-0B49-3064-400419384FF6}"/>
              </a:ext>
            </a:extLst>
          </p:cNvPr>
          <p:cNvSpPr txBox="1">
            <a:spLocks/>
          </p:cNvSpPr>
          <p:nvPr/>
        </p:nvSpPr>
        <p:spPr>
          <a:xfrm>
            <a:off x="6700217" y="3957262"/>
            <a:ext cx="4046081" cy="644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3845" indent="-223845" algn="l" defTabSz="91443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37" indent="-223845" algn="l" defTabSz="91443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2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1388" indent="-171456" algn="l" defTabSz="91443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6820" indent="-173043" algn="l" defTabSz="91443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8129" indent="-173043" algn="l" defTabSz="91443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44800" indent="-173742" algn="l" defTabSz="91443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82551" indent="-173742" algn="l" defTabSz="91443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304" indent="-173742" algn="l" defTabSz="91443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–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58056" indent="-173742" algn="l" defTabSz="91443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TW" sz="1600" b="1" dirty="0"/>
              <a:t>Termination: </a:t>
            </a:r>
            <a:r>
              <a:rPr lang="en-TW" sz="1600" dirty="0"/>
              <a:t>100% progress or reach 400 timesteps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2">
                <a:extLst>
                  <a:ext uri="{FF2B5EF4-FFF2-40B4-BE49-F238E27FC236}">
                    <a16:creationId xmlns:a16="http://schemas.microsoft.com/office/drawing/2014/main" id="{516DAD6F-CA34-3B14-B62E-EAD5496D50F1}"/>
                  </a:ext>
                </a:extLst>
              </p:cNvPr>
              <p:cNvSpPr/>
              <p:nvPr/>
            </p:nvSpPr>
            <p:spPr>
              <a:xfrm>
                <a:off x="6755659" y="4965721"/>
                <a:ext cx="4370853" cy="1434166"/>
              </a:xfrm>
              <a:prstGeom prst="rect">
                <a:avLst/>
              </a:prstGeom>
              <a:solidFill>
                <a:srgbClr val="FBED85"/>
              </a:solidFill>
              <a:ln>
                <a:noFill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just"/>
                <a:r>
                  <a:rPr lang="en-US" altLang="zh-TW" b="1" dirty="0"/>
                  <a:t>Note:</a:t>
                </a:r>
              </a:p>
              <a:p>
                <a:pPr algn="just"/>
                <a:r>
                  <a:rPr lang="en-US" altLang="zh-TW" dirty="0"/>
                  <a:t>The value range of action is normalized to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[−1,  1]</m:t>
                    </m:r>
                  </m:oMath>
                </a14:m>
                <a:r>
                  <a:rPr lang="en-US" altLang="zh-TW" dirty="0"/>
                  <a:t>. If the input action value is out of range, the value will be clipped.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11" name="矩形 2">
                <a:extLst>
                  <a:ext uri="{FF2B5EF4-FFF2-40B4-BE49-F238E27FC236}">
                    <a16:creationId xmlns:a16="http://schemas.microsoft.com/office/drawing/2014/main" id="{516DAD6F-CA34-3B14-B62E-EAD5496D50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5659" y="4965721"/>
                <a:ext cx="4370853" cy="1434166"/>
              </a:xfrm>
              <a:prstGeom prst="rect">
                <a:avLst/>
              </a:prstGeom>
              <a:blipFill>
                <a:blip r:embed="rId5"/>
                <a:stretch>
                  <a:fillRect l="-867" t="-3509" r="-1156" b="-70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6012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4C4102-C526-4BC3-A4E5-4D6837553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PPO Algorithm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4296EA-6635-4978-BE18-7C68DA763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122CF1E-0F79-D809-FC61-77A45846A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814" y="2083677"/>
            <a:ext cx="10972238" cy="3284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BD20712C-C5C3-CB2C-5939-16CF198AFC01}"/>
              </a:ext>
            </a:extLst>
          </p:cNvPr>
          <p:cNvSpPr txBox="1"/>
          <p:nvPr/>
        </p:nvSpPr>
        <p:spPr>
          <a:xfrm>
            <a:off x="9035954" y="2805813"/>
            <a:ext cx="2478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solidFill>
                  <a:srgbClr val="C00000"/>
                </a:solidFill>
              </a:rPr>
              <a:t>Run an episode to collect data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6A2F67F9-7617-2349-AC0E-2EEB96507C98}"/>
              </a:ext>
            </a:extLst>
          </p:cNvPr>
          <p:cNvSpPr txBox="1"/>
          <p:nvPr/>
        </p:nvSpPr>
        <p:spPr>
          <a:xfrm>
            <a:off x="8973792" y="5521594"/>
            <a:ext cx="2686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C00000"/>
                </a:solidFill>
              </a:rPr>
              <a:t>Train the model using the collected data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8" name="Right Brace 4">
            <a:extLst>
              <a:ext uri="{FF2B5EF4-FFF2-40B4-BE49-F238E27FC236}">
                <a16:creationId xmlns:a16="http://schemas.microsoft.com/office/drawing/2014/main" id="{06C26D9F-BF6E-F6B3-C32E-7FAAD15D4582}"/>
              </a:ext>
            </a:extLst>
          </p:cNvPr>
          <p:cNvSpPr/>
          <p:nvPr/>
        </p:nvSpPr>
        <p:spPr>
          <a:xfrm>
            <a:off x="7100871" y="3053051"/>
            <a:ext cx="266700" cy="1076960"/>
          </a:xfrm>
          <a:prstGeom prst="rightBrace">
            <a:avLst>
              <a:gd name="adj1" fmla="val 15229"/>
              <a:gd name="adj2" fmla="val 50000"/>
            </a:avLst>
          </a:prstGeom>
          <a:noFill/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E05E966E-2A18-4555-E44F-115F5ADD3E71}"/>
              </a:ext>
            </a:extLst>
          </p:cNvPr>
          <p:cNvSpPr/>
          <p:nvPr/>
        </p:nvSpPr>
        <p:spPr>
          <a:xfrm>
            <a:off x="9553028" y="4243072"/>
            <a:ext cx="294640" cy="559747"/>
          </a:xfrm>
          <a:prstGeom prst="rightBrace">
            <a:avLst>
              <a:gd name="adj1" fmla="val 15229"/>
              <a:gd name="adj2" fmla="val 50000"/>
            </a:avLst>
          </a:prstGeom>
          <a:noFill/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D48608C1-18D6-5677-8B02-526E87F79DEC}"/>
              </a:ext>
            </a:extLst>
          </p:cNvPr>
          <p:cNvCxnSpPr>
            <a:cxnSpLocks/>
          </p:cNvCxnSpPr>
          <p:nvPr/>
        </p:nvCxnSpPr>
        <p:spPr>
          <a:xfrm flipH="1">
            <a:off x="7367571" y="3128979"/>
            <a:ext cx="1778000" cy="34491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0">
            <a:extLst>
              <a:ext uri="{FF2B5EF4-FFF2-40B4-BE49-F238E27FC236}">
                <a16:creationId xmlns:a16="http://schemas.microsoft.com/office/drawing/2014/main" id="{D4FD035A-9E78-9A38-1935-7DA2BB608BB0}"/>
              </a:ext>
            </a:extLst>
          </p:cNvPr>
          <p:cNvCxnSpPr>
            <a:cxnSpLocks/>
          </p:cNvCxnSpPr>
          <p:nvPr/>
        </p:nvCxnSpPr>
        <p:spPr>
          <a:xfrm flipH="1" flipV="1">
            <a:off x="9847668" y="4616388"/>
            <a:ext cx="513232" cy="91934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97123C6-4E2A-8103-3326-52FD3273F29C}"/>
              </a:ext>
            </a:extLst>
          </p:cNvPr>
          <p:cNvSpPr txBox="1"/>
          <p:nvPr/>
        </p:nvSpPr>
        <p:spPr>
          <a:xfrm>
            <a:off x="579267" y="6391103"/>
            <a:ext cx="8831062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457200" indent="-457200"/>
            <a:r>
              <a:rPr lang="en-US" altLang="zh-TW" sz="1200" b="1" dirty="0">
                <a:latin typeface="Arial" panose="020B0604020202020204" pitchFamily="34" charset="0"/>
                <a:cs typeface="Arial" panose="020B0604020202020204" pitchFamily="34" charset="0"/>
              </a:rPr>
              <a:t>Reference: </a:t>
            </a:r>
            <a:r>
              <a:rPr lang="en-US" altLang="zh-TW" sz="1200" dirty="0">
                <a:latin typeface="Arial" panose="020B0604020202020204" pitchFamily="34" charset="0"/>
                <a:cs typeface="Arial" panose="020B0604020202020204" pitchFamily="34" charset="0"/>
              </a:rPr>
              <a:t>John Schulman, et al. “Proximal Policy Optimization Algorithms." , </a:t>
            </a:r>
            <a:r>
              <a:rPr lang="en-US" altLang="zh-TW" sz="1200" dirty="0" err="1">
                <a:latin typeface="Arial" panose="020B0604020202020204" pitchFamily="34" charset="0"/>
                <a:cs typeface="Arial" panose="020B0604020202020204" pitchFamily="34" charset="0"/>
              </a:rPr>
              <a:t>CoRR</a:t>
            </a:r>
            <a:r>
              <a:rPr lang="en-US" altLang="zh-TW" sz="1200" dirty="0">
                <a:latin typeface="Arial" panose="020B0604020202020204" pitchFamily="34" charset="0"/>
                <a:cs typeface="Arial" panose="020B0604020202020204" pitchFamily="34" charset="0"/>
              </a:rPr>
              <a:t> abs/1707.06347.arXiv:1707.06347</a:t>
            </a:r>
          </a:p>
        </p:txBody>
      </p:sp>
    </p:spTree>
    <p:extLst>
      <p:ext uri="{BB962C8B-B14F-4D97-AF65-F5344CB8AC3E}">
        <p14:creationId xmlns:p14="http://schemas.microsoft.com/office/powerpoint/2010/main" val="326153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4C4102-C526-4BC3-A4E5-4D6837553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PPO Algorithm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4296EA-6635-4978-BE18-7C68DA763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文字方塊 1">
            <a:extLst>
              <a:ext uri="{FF2B5EF4-FFF2-40B4-BE49-F238E27FC236}">
                <a16:creationId xmlns:a16="http://schemas.microsoft.com/office/drawing/2014/main" id="{8F9B930A-A4D1-98CB-5328-8E4E4788BA8E}"/>
              </a:ext>
            </a:extLst>
          </p:cNvPr>
          <p:cNvSpPr txBox="1"/>
          <p:nvPr/>
        </p:nvSpPr>
        <p:spPr>
          <a:xfrm>
            <a:off x="1116720" y="2145328"/>
            <a:ext cx="3255569" cy="3267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000" dirty="0"/>
              <a:t>Actor Network: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TW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TW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TW" sz="2000" dirty="0"/>
          </a:p>
          <a:p>
            <a:pPr>
              <a:lnSpc>
                <a:spcPct val="150000"/>
              </a:lnSpc>
            </a:pPr>
            <a:endParaRPr lang="en-US" altLang="zh-TW" sz="2000" dirty="0"/>
          </a:p>
          <a:p>
            <a:pPr>
              <a:lnSpc>
                <a:spcPct val="150000"/>
              </a:lnSpc>
            </a:pPr>
            <a:endParaRPr lang="en-US" altLang="zh-TW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000" dirty="0"/>
              <a:t>Critic Network:</a:t>
            </a:r>
            <a:endParaRPr lang="en-US" altLang="zh-TW" sz="2800" dirty="0"/>
          </a:p>
        </p:txBody>
      </p:sp>
      <p:pic>
        <p:nvPicPr>
          <p:cNvPr id="6" name="圖片 4">
            <a:extLst>
              <a:ext uri="{FF2B5EF4-FFF2-40B4-BE49-F238E27FC236}">
                <a16:creationId xmlns:a16="http://schemas.microsoft.com/office/drawing/2014/main" id="{AF926D86-F613-0AAF-C8F7-0F759AFBB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223" y="2712410"/>
            <a:ext cx="1265464" cy="571500"/>
          </a:xfrm>
          <a:prstGeom prst="rect">
            <a:avLst/>
          </a:prstGeom>
        </p:spPr>
      </p:pic>
      <p:pic>
        <p:nvPicPr>
          <p:cNvPr id="7" name="圖片 9">
            <a:extLst>
              <a:ext uri="{FF2B5EF4-FFF2-40B4-BE49-F238E27FC236}">
                <a16:creationId xmlns:a16="http://schemas.microsoft.com/office/drawing/2014/main" id="{634A57A2-2CAB-C82E-96CD-6DD826184D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4586" t="975" b="1"/>
          <a:stretch/>
        </p:blipFill>
        <p:spPr>
          <a:xfrm>
            <a:off x="1903711" y="5538993"/>
            <a:ext cx="944488" cy="565927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DFAC9A5D-7F05-FEC9-C8B8-949881C260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2289" y="1836769"/>
            <a:ext cx="4459479" cy="461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7460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4C4102-C526-4BC3-A4E5-4D6837553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PPO Algorithm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4296EA-6635-4978-BE18-7C68DA763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9" name="文字方塊 1">
            <a:extLst>
              <a:ext uri="{FF2B5EF4-FFF2-40B4-BE49-F238E27FC236}">
                <a16:creationId xmlns:a16="http://schemas.microsoft.com/office/drawing/2014/main" id="{0BA0A3B9-F703-D011-3C7F-5C521949FA43}"/>
              </a:ext>
            </a:extLst>
          </p:cNvPr>
          <p:cNvSpPr txBox="1"/>
          <p:nvPr/>
        </p:nvSpPr>
        <p:spPr>
          <a:xfrm>
            <a:off x="1178862" y="1878999"/>
            <a:ext cx="4323618" cy="3265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000" dirty="0"/>
              <a:t>Value Loss: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TW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TW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TW" sz="2000" dirty="0"/>
          </a:p>
          <a:p>
            <a:pPr>
              <a:lnSpc>
                <a:spcPct val="150000"/>
              </a:lnSpc>
            </a:pPr>
            <a:endParaRPr lang="en-US" altLang="zh-TW" sz="20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000" dirty="0"/>
              <a:t>Policy Gradient Loss: (Surrogate):</a:t>
            </a:r>
            <a:endParaRPr lang="en-US" altLang="zh-TW" sz="2800" dirty="0"/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D2018CD1-7FD0-CC30-AC2C-E426DE914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533" y="2584409"/>
            <a:ext cx="3724275" cy="685800"/>
          </a:xfrm>
          <a:prstGeom prst="rect">
            <a:avLst/>
          </a:prstGeom>
        </p:spPr>
      </p:pic>
      <p:pic>
        <p:nvPicPr>
          <p:cNvPr id="11" name="圖片 5">
            <a:extLst>
              <a:ext uri="{FF2B5EF4-FFF2-40B4-BE49-F238E27FC236}">
                <a16:creationId xmlns:a16="http://schemas.microsoft.com/office/drawing/2014/main" id="{DA8CE5A9-8B27-ADD2-F5E4-CBD8498E4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251" y="4658441"/>
            <a:ext cx="2126429" cy="836395"/>
          </a:xfrm>
          <a:prstGeom prst="rect">
            <a:avLst/>
          </a:prstGeom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8FC181C6-96FD-F6BD-3F06-2E49D7849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251" y="5608328"/>
            <a:ext cx="8967177" cy="574819"/>
          </a:xfrm>
          <a:prstGeom prst="rect">
            <a:avLst/>
          </a:prstGeom>
        </p:spPr>
      </p:pic>
      <p:cxnSp>
        <p:nvCxnSpPr>
          <p:cNvPr id="13" name="Straight Connector 5">
            <a:extLst>
              <a:ext uri="{FF2B5EF4-FFF2-40B4-BE49-F238E27FC236}">
                <a16:creationId xmlns:a16="http://schemas.microsoft.com/office/drawing/2014/main" id="{E4639AFB-0333-E4A3-D6A4-58365D37A978}"/>
              </a:ext>
            </a:extLst>
          </p:cNvPr>
          <p:cNvCxnSpPr>
            <a:cxnSpLocks/>
          </p:cNvCxnSpPr>
          <p:nvPr/>
        </p:nvCxnSpPr>
        <p:spPr>
          <a:xfrm>
            <a:off x="4648468" y="6050331"/>
            <a:ext cx="169940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0">
            <a:extLst>
              <a:ext uri="{FF2B5EF4-FFF2-40B4-BE49-F238E27FC236}">
                <a16:creationId xmlns:a16="http://schemas.microsoft.com/office/drawing/2014/main" id="{9E8D5CE5-A79A-67A0-2698-31E5CFBC12FC}"/>
              </a:ext>
            </a:extLst>
          </p:cNvPr>
          <p:cNvCxnSpPr>
            <a:cxnSpLocks/>
          </p:cNvCxnSpPr>
          <p:nvPr/>
        </p:nvCxnSpPr>
        <p:spPr>
          <a:xfrm>
            <a:off x="6702703" y="6050331"/>
            <a:ext cx="3544306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8339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7C5C0-0B28-B463-6442-E76298076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Repo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4C5A7-3384-FB07-E24F-77A83ABCF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811" y="1828800"/>
            <a:ext cx="9603701" cy="4739780"/>
          </a:xfrm>
        </p:spPr>
        <p:txBody>
          <a:bodyPr>
            <a:noAutofit/>
          </a:bodyPr>
          <a:lstStyle/>
          <a:p>
            <a:pPr>
              <a:buFont typeface="Times Roman"/>
              <a:buChar char="–"/>
            </a:pPr>
            <a:r>
              <a:rPr lang="en-TW" sz="1400" b="1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HW3-1/</a:t>
            </a:r>
          </a:p>
          <a:p>
            <a:pPr lvl="1"/>
            <a:r>
              <a:rPr lang="en-TW" sz="1400" b="1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PathTracking/</a:t>
            </a:r>
            <a:r>
              <a:rPr lang="en-TW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TW" sz="1400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PathTracking Utilities</a:t>
            </a:r>
          </a:p>
          <a:p>
            <a:pPr lvl="1"/>
            <a:r>
              <a:rPr lang="en-TW" sz="1400" b="1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Simulation/</a:t>
            </a:r>
            <a:r>
              <a:rPr lang="en-TW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TW" sz="1400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Simulation framework</a:t>
            </a:r>
          </a:p>
          <a:p>
            <a:pPr lvl="1"/>
            <a:r>
              <a:rPr lang="en-TW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model.py</a:t>
            </a:r>
          </a:p>
          <a:p>
            <a:pPr lvl="2"/>
            <a:r>
              <a:rPr lang="en-TW" sz="1400" dirty="0">
                <a:cs typeface="Consolas" panose="020B0609020204030204" pitchFamily="49" charset="0"/>
              </a:rPr>
              <a:t>Define policy &amp; value network architecture </a:t>
            </a:r>
            <a:r>
              <a:rPr lang="en-TW" sz="1400" b="1" dirty="0">
                <a:solidFill>
                  <a:srgbClr val="FF0000"/>
                </a:solidFill>
                <a:cs typeface="Consolas" panose="020B0609020204030204" pitchFamily="49" charset="0"/>
              </a:rPr>
              <a:t>(TODO 1 &amp; 2)</a:t>
            </a:r>
          </a:p>
          <a:p>
            <a:pPr lvl="1"/>
            <a:r>
              <a:rPr lang="en-TW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env_runner.py</a:t>
            </a:r>
          </a:p>
          <a:p>
            <a:pPr lvl="2"/>
            <a:r>
              <a:rPr lang="en-TW" sz="1400" dirty="0">
                <a:cs typeface="Consolas" panose="020B0609020204030204" pitchFamily="49" charset="0"/>
              </a:rPr>
              <a:t>Run simulation environment to collect batched data </a:t>
            </a:r>
            <a:r>
              <a:rPr lang="en-TW" sz="1400" b="1" dirty="0">
                <a:solidFill>
                  <a:srgbClr val="FF0000"/>
                </a:solidFill>
                <a:cs typeface="Consolas" panose="020B0609020204030204" pitchFamily="49" charset="0"/>
              </a:rPr>
              <a:t>(TODO 3)</a:t>
            </a:r>
          </a:p>
          <a:p>
            <a:pPr lvl="1"/>
            <a:r>
              <a:rPr lang="en-TW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agent.py</a:t>
            </a:r>
          </a:p>
          <a:p>
            <a:pPr lvl="2"/>
            <a:r>
              <a:rPr lang="en-TW" sz="1400" dirty="0">
                <a:cs typeface="Consolas" panose="020B0609020204030204" pitchFamily="49" charset="0"/>
              </a:rPr>
              <a:t>PPO algorithm implementation </a:t>
            </a:r>
            <a:r>
              <a:rPr lang="en-TW" sz="1400" b="1" dirty="0">
                <a:solidFill>
                  <a:srgbClr val="FF0000"/>
                </a:solidFill>
                <a:cs typeface="Consolas" panose="020B0609020204030204" pitchFamily="49" charset="0"/>
              </a:rPr>
              <a:t>(TODO 4)</a:t>
            </a:r>
          </a:p>
          <a:p>
            <a:pPr lvl="1"/>
            <a:r>
              <a:rPr lang="en-TW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train.py   </a:t>
            </a:r>
            <a:r>
              <a:rPr lang="en-TW" sz="1400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Training script </a:t>
            </a:r>
            <a:r>
              <a:rPr lang="en-TW" sz="1400" b="1" dirty="0">
                <a:solidFill>
                  <a:srgbClr val="FF0000"/>
                </a:solidFill>
                <a:cs typeface="Consolas" panose="020B0609020204030204" pitchFamily="49" charset="0"/>
              </a:rPr>
              <a:t>(TODO 5)</a:t>
            </a:r>
          </a:p>
          <a:p>
            <a:pPr lvl="1"/>
            <a:r>
              <a:rPr lang="en-TW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play.py    </a:t>
            </a:r>
            <a:r>
              <a:rPr lang="en-TW" sz="1400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Inference script</a:t>
            </a:r>
          </a:p>
          <a:p>
            <a:pPr lvl="1"/>
            <a:r>
              <a:rPr lang="en-TW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eval.py    </a:t>
            </a:r>
            <a:r>
              <a:rPr lang="en-TW" sz="1400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Evaluation script</a:t>
            </a:r>
          </a:p>
          <a:p>
            <a:pPr lvl="1"/>
            <a:r>
              <a:rPr lang="en-TW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plot.py    </a:t>
            </a:r>
            <a:r>
              <a:rPr lang="en-TW" sz="1400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Training curve visualization</a:t>
            </a:r>
          </a:p>
          <a:p>
            <a:pPr marL="279092" lvl="1" indent="0">
              <a:buNone/>
            </a:pPr>
            <a:endParaRPr lang="en-TW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79092" lvl="1" indent="0">
              <a:buNone/>
            </a:pPr>
            <a:r>
              <a:rPr lang="en-TW" sz="1400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Environment &amp; other utilities</a:t>
            </a:r>
          </a:p>
          <a:p>
            <a:pPr lvl="1"/>
            <a:r>
              <a:rPr lang="en-TW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cublic_spline.py </a:t>
            </a:r>
            <a:r>
              <a:rPr lang="en-TW" sz="1400" dirty="0">
                <a:latin typeface="Consolas" panose="020B0609020204030204" pitchFamily="49" charset="0"/>
                <a:cs typeface="Consolas" panose="020B0609020204030204" pitchFamily="49" charset="0"/>
              </a:rPr>
              <a:t>&amp; </a:t>
            </a:r>
            <a:r>
              <a:rPr lang="en-TW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multi_env.py</a:t>
            </a:r>
            <a:r>
              <a:rPr lang="en-TW" sz="1400" dirty="0">
                <a:latin typeface="Consolas" panose="020B0609020204030204" pitchFamily="49" charset="0"/>
                <a:cs typeface="Consolas" panose="020B0609020204030204" pitchFamily="49" charset="0"/>
              </a:rPr>
              <a:t> &amp; </a:t>
            </a:r>
            <a:r>
              <a:rPr lang="en-TW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wrapper.py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3D44BE-73F9-143C-F954-4F5BBFEFBF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70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478E7-C1FE-3920-CBFB-75F4E584E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>
                <a:solidFill>
                  <a:srgbClr val="FF0000"/>
                </a:solidFill>
              </a:rPr>
              <a:t>(model.py) </a:t>
            </a:r>
            <a:r>
              <a:rPr lang="en-US" altLang="zh-TW" dirty="0"/>
              <a:t>Diagonal Gaussian Distribution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D0FAE-EC56-7CF9-AE6C-3AD925CB3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1702" y="2428680"/>
            <a:ext cx="2445182" cy="369116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TW" dirty="0">
                <a:latin typeface="Consolas" panose="020B0609020204030204" pitchFamily="49" charset="0"/>
                <a:cs typeface="Consolas" panose="020B0609020204030204" pitchFamily="49" charset="0"/>
              </a:rPr>
              <a:t>FixedNormal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C123A-EAF3-203A-1D4A-DE14427111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0FFF92-616F-2608-3973-E35A9383C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702" y="2947506"/>
            <a:ext cx="4418858" cy="2631754"/>
          </a:xfrm>
          <a:prstGeom prst="rect">
            <a:avLst/>
          </a:prstGeom>
        </p:spPr>
      </p:pic>
      <p:pic>
        <p:nvPicPr>
          <p:cNvPr id="6" name="Picture 2" descr="https://lh5.googleusercontent.com/oQYnf7GtTxGCs_KDDzxi4SKyJ3S4xMsvk8cJwfv_WMkrOF2Vscq-0-fy8xrSrJ113sqrj00guXjMPrQvPpyMR_51InaqkPvu7OMmPad0yZDWx5z9kCfLWXsf6JKkT86lN8WarsU">
            <a:extLst>
              <a:ext uri="{FF2B5EF4-FFF2-40B4-BE49-F238E27FC236}">
                <a16:creationId xmlns:a16="http://schemas.microsoft.com/office/drawing/2014/main" id="{0ADAA6A3-DC8B-CFB2-2335-F0D27EDE36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9206" y="2508178"/>
            <a:ext cx="1953135" cy="1462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5">
            <a:extLst>
              <a:ext uri="{FF2B5EF4-FFF2-40B4-BE49-F238E27FC236}">
                <a16:creationId xmlns:a16="http://schemas.microsoft.com/office/drawing/2014/main" id="{8582E121-7592-28B2-23D0-667BA82A82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479" y="5165361"/>
            <a:ext cx="5540344" cy="537245"/>
          </a:xfrm>
          <a:prstGeom prst="rect">
            <a:avLst/>
          </a:prstGeom>
        </p:spPr>
      </p:pic>
      <p:cxnSp>
        <p:nvCxnSpPr>
          <p:cNvPr id="8" name="Straight Connector 4">
            <a:extLst>
              <a:ext uri="{FF2B5EF4-FFF2-40B4-BE49-F238E27FC236}">
                <a16:creationId xmlns:a16="http://schemas.microsoft.com/office/drawing/2014/main" id="{453AF055-265C-78DD-559A-0E47CED01CC3}"/>
              </a:ext>
            </a:extLst>
          </p:cNvPr>
          <p:cNvCxnSpPr>
            <a:cxnSpLocks/>
          </p:cNvCxnSpPr>
          <p:nvPr/>
        </p:nvCxnSpPr>
        <p:spPr>
          <a:xfrm flipH="1">
            <a:off x="8737148" y="2646677"/>
            <a:ext cx="3222" cy="1324437"/>
          </a:xfrm>
          <a:prstGeom prst="line">
            <a:avLst/>
          </a:prstGeom>
          <a:ln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12">
            <a:extLst>
              <a:ext uri="{FF2B5EF4-FFF2-40B4-BE49-F238E27FC236}">
                <a16:creationId xmlns:a16="http://schemas.microsoft.com/office/drawing/2014/main" id="{7BD8C7CA-9F70-8008-FFB3-3CE116067B4B}"/>
              </a:ext>
            </a:extLst>
          </p:cNvPr>
          <p:cNvCxnSpPr/>
          <p:nvPr/>
        </p:nvCxnSpPr>
        <p:spPr>
          <a:xfrm>
            <a:off x="8752391" y="3779731"/>
            <a:ext cx="409282" cy="0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13">
            <a:extLst>
              <a:ext uri="{FF2B5EF4-FFF2-40B4-BE49-F238E27FC236}">
                <a16:creationId xmlns:a16="http://schemas.microsoft.com/office/drawing/2014/main" id="{1B53F831-68A6-FE52-6922-B05D23B1D5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0479" y="4288308"/>
            <a:ext cx="4466832" cy="563325"/>
          </a:xfrm>
          <a:prstGeom prst="rect">
            <a:avLst/>
          </a:prstGeom>
        </p:spPr>
      </p:pic>
      <p:cxnSp>
        <p:nvCxnSpPr>
          <p:cNvPr id="11" name="Straight Connector 17">
            <a:extLst>
              <a:ext uri="{FF2B5EF4-FFF2-40B4-BE49-F238E27FC236}">
                <a16:creationId xmlns:a16="http://schemas.microsoft.com/office/drawing/2014/main" id="{96236AEC-9456-A979-C892-18BF65E51396}"/>
              </a:ext>
            </a:extLst>
          </p:cNvPr>
          <p:cNvCxnSpPr>
            <a:cxnSpLocks/>
          </p:cNvCxnSpPr>
          <p:nvPr/>
        </p:nvCxnSpPr>
        <p:spPr>
          <a:xfrm flipH="1">
            <a:off x="8346006" y="2663275"/>
            <a:ext cx="29564" cy="1271739"/>
          </a:xfrm>
          <a:prstGeom prst="line">
            <a:avLst/>
          </a:prstGeom>
          <a:ln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6">
                <a:extLst>
                  <a:ext uri="{FF2B5EF4-FFF2-40B4-BE49-F238E27FC236}">
                    <a16:creationId xmlns:a16="http://schemas.microsoft.com/office/drawing/2014/main" id="{A5455410-5E43-75DB-2F4F-EAB26F148ABE}"/>
                  </a:ext>
                </a:extLst>
              </p:cNvPr>
              <p:cNvSpPr txBox="1"/>
              <p:nvPr/>
            </p:nvSpPr>
            <p:spPr>
              <a:xfrm>
                <a:off x="8667967" y="2369678"/>
                <a:ext cx="16205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</m:oMath>
                  </m:oMathPara>
                </a14:m>
                <a:endParaRPr lang="zh-TW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TextBox 16">
                <a:extLst>
                  <a:ext uri="{FF2B5EF4-FFF2-40B4-BE49-F238E27FC236}">
                    <a16:creationId xmlns:a16="http://schemas.microsoft.com/office/drawing/2014/main" id="{A5455410-5E43-75DB-2F4F-EAB26F148A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7967" y="2369678"/>
                <a:ext cx="162058" cy="276999"/>
              </a:xfrm>
              <a:prstGeom prst="rect">
                <a:avLst/>
              </a:prstGeom>
              <a:blipFill>
                <a:blip r:embed="rId6"/>
                <a:stretch>
                  <a:fillRect l="-35714" r="-28571" b="-30435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8">
                <a:extLst>
                  <a:ext uri="{FF2B5EF4-FFF2-40B4-BE49-F238E27FC236}">
                    <a16:creationId xmlns:a16="http://schemas.microsoft.com/office/drawing/2014/main" id="{42229B3C-CE3B-2552-2C70-8755858449E9}"/>
                  </a:ext>
                </a:extLst>
              </p:cNvPr>
              <p:cNvSpPr txBox="1"/>
              <p:nvPr/>
            </p:nvSpPr>
            <p:spPr>
              <a:xfrm>
                <a:off x="8295603" y="2377650"/>
                <a:ext cx="15993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3" name="TextBox 18">
                <a:extLst>
                  <a:ext uri="{FF2B5EF4-FFF2-40B4-BE49-F238E27FC236}">
                    <a16:creationId xmlns:a16="http://schemas.microsoft.com/office/drawing/2014/main" id="{42229B3C-CE3B-2552-2C70-875585844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5603" y="2377650"/>
                <a:ext cx="159933" cy="276999"/>
              </a:xfrm>
              <a:prstGeom prst="rect">
                <a:avLst/>
              </a:prstGeom>
              <a:blipFill>
                <a:blip r:embed="rId7"/>
                <a:stretch>
                  <a:fillRect l="-30769" r="-23077" b="-4545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20">
                <a:extLst>
                  <a:ext uri="{FF2B5EF4-FFF2-40B4-BE49-F238E27FC236}">
                    <a16:creationId xmlns:a16="http://schemas.microsoft.com/office/drawing/2014/main" id="{15DDC72D-4975-35A7-E52D-9EF6E42AAB87}"/>
                  </a:ext>
                </a:extLst>
              </p:cNvPr>
              <p:cNvSpPr txBox="1"/>
              <p:nvPr/>
            </p:nvSpPr>
            <p:spPr>
              <a:xfrm>
                <a:off x="8878613" y="3491430"/>
                <a:ext cx="16854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zh-TW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TextBox 20">
                <a:extLst>
                  <a:ext uri="{FF2B5EF4-FFF2-40B4-BE49-F238E27FC236}">
                    <a16:creationId xmlns:a16="http://schemas.microsoft.com/office/drawing/2014/main" id="{15DDC72D-4975-35A7-E52D-9EF6E42AA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8613" y="3491430"/>
                <a:ext cx="168547" cy="276999"/>
              </a:xfrm>
              <a:prstGeom prst="rect">
                <a:avLst/>
              </a:prstGeom>
              <a:blipFill>
                <a:blip r:embed="rId8"/>
                <a:stretch>
                  <a:fillRect l="-13333" r="-20000" b="-4545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21">
                <a:extLst>
                  <a:ext uri="{FF2B5EF4-FFF2-40B4-BE49-F238E27FC236}">
                    <a16:creationId xmlns:a16="http://schemas.microsoft.com/office/drawing/2014/main" id="{743FC488-767C-7C7F-9BF8-43EE35EA6EAC}"/>
                  </a:ext>
                </a:extLst>
              </p:cNvPr>
              <p:cNvSpPr txBox="1"/>
              <p:nvPr/>
            </p:nvSpPr>
            <p:spPr>
              <a:xfrm>
                <a:off x="6865057" y="3447484"/>
                <a:ext cx="82025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TW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zh-TW" alt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en-US" altLang="zh-TW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TW" alt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TW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5" name="TextBox 21">
                <a:extLst>
                  <a:ext uri="{FF2B5EF4-FFF2-40B4-BE49-F238E27FC236}">
                    <a16:creationId xmlns:a16="http://schemas.microsoft.com/office/drawing/2014/main" id="{743FC488-767C-7C7F-9BF8-43EE35EA6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5057" y="3447484"/>
                <a:ext cx="820251" cy="276999"/>
              </a:xfrm>
              <a:prstGeom prst="rect">
                <a:avLst/>
              </a:prstGeom>
              <a:blipFill>
                <a:blip r:embed="rId9"/>
                <a:stretch>
                  <a:fillRect l="-10606" r="-19697" b="-39130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線單箭頭接點 10">
            <a:extLst>
              <a:ext uri="{FF2B5EF4-FFF2-40B4-BE49-F238E27FC236}">
                <a16:creationId xmlns:a16="http://schemas.microsoft.com/office/drawing/2014/main" id="{DBE8BC25-BB0A-34C0-8F22-8E0DB55274F3}"/>
              </a:ext>
            </a:extLst>
          </p:cNvPr>
          <p:cNvCxnSpPr>
            <a:cxnSpLocks/>
            <a:endCxn id="17" idx="2"/>
          </p:cNvCxnSpPr>
          <p:nvPr/>
        </p:nvCxnSpPr>
        <p:spPr>
          <a:xfrm>
            <a:off x="7780501" y="3623255"/>
            <a:ext cx="505993" cy="49244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9">
            <a:extLst>
              <a:ext uri="{FF2B5EF4-FFF2-40B4-BE49-F238E27FC236}">
                <a16:creationId xmlns:a16="http://schemas.microsoft.com/office/drawing/2014/main" id="{C7825C7C-F0BE-FACA-4719-4AE3973C99B8}"/>
              </a:ext>
            </a:extLst>
          </p:cNvPr>
          <p:cNvSpPr/>
          <p:nvPr/>
        </p:nvSpPr>
        <p:spPr>
          <a:xfrm>
            <a:off x="8286494" y="3602212"/>
            <a:ext cx="137642" cy="14057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8442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9E434-AC1B-C907-4D0E-96DDB8291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>
                <a:solidFill>
                  <a:srgbClr val="FF0000"/>
                </a:solidFill>
              </a:rPr>
              <a:t>(model.py) </a:t>
            </a:r>
            <a:r>
              <a:rPr lang="en-US" altLang="zh-TW" dirty="0"/>
              <a:t>Diagonal Gaussian Distribution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2D5B5-A437-B9A1-E880-91E8C1CC7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2995" y="1951032"/>
            <a:ext cx="2503905" cy="494950"/>
          </a:xfrm>
        </p:spPr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US" altLang="zh-TW" dirty="0" err="1">
                <a:latin typeface="Consolas" panose="020B0609020204030204" pitchFamily="49" charset="0"/>
                <a:cs typeface="Consolas" panose="020B0609020204030204" pitchFamily="49" charset="0"/>
              </a:rPr>
              <a:t>DiagGaussian</a:t>
            </a:r>
            <a:endParaRPr lang="en-TW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B496F-6113-1664-DD6D-52BBC0D44A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20645F-E57F-0F46-C498-FD209BDDF399}"/>
                  </a:ext>
                </a:extLst>
              </p:cNvPr>
              <p:cNvSpPr txBox="1"/>
              <p:nvPr/>
            </p:nvSpPr>
            <p:spPr>
              <a:xfrm>
                <a:off x="1789808" y="5478317"/>
                <a:ext cx="5917326" cy="11510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𝑚𝑒𝑎𝑛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,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𝑠𝑡𝑑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 </m:t>
                      </m:r>
                      <m:r>
                        <m:rPr>
                          <m:sty m:val="p"/>
                        </m:rPr>
                        <a:rPr lang="el-GR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zh-TW" alt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⋱</m:t>
                                      </m:r>
                                    </m:e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…</m:t>
                                      </m:r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zh-TW" alt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20645F-E57F-0F46-C498-FD209BDDF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808" y="5478317"/>
                <a:ext cx="5917326" cy="1151084"/>
              </a:xfrm>
              <a:prstGeom prst="rect">
                <a:avLst/>
              </a:prstGeom>
              <a:blipFill>
                <a:blip r:embed="rId2"/>
                <a:stretch>
                  <a:fillRect b="-3261"/>
                </a:stretch>
              </a:blipFill>
            </p:spPr>
            <p:txBody>
              <a:bodyPr/>
              <a:lstStyle/>
              <a:p>
                <a:r>
                  <a:rPr lang="en-TW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925C2C71-2ABE-B45E-7C8A-726447F810AB}"/>
              </a:ext>
            </a:extLst>
          </p:cNvPr>
          <p:cNvGrpSpPr/>
          <p:nvPr/>
        </p:nvGrpSpPr>
        <p:grpSpPr>
          <a:xfrm>
            <a:off x="8429048" y="2198507"/>
            <a:ext cx="1869957" cy="4430894"/>
            <a:chOff x="8078946" y="2321003"/>
            <a:chExt cx="1869957" cy="443089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088880A-B3F2-A8DF-B280-2A0C051B55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78946" y="2321003"/>
              <a:ext cx="1869956" cy="1402467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646EBD6-D483-1652-FF29-55E739520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78946" y="3723470"/>
              <a:ext cx="1869957" cy="140246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9310396-BEE3-A689-0CCD-75C14980F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82381" y="5349429"/>
              <a:ext cx="1866521" cy="1402468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B7504B15-6492-7DE9-5188-CFC3AF1BA2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2995" y="2445982"/>
            <a:ext cx="5917326" cy="2848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792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90919-35A1-0B07-AFB6-CD74451D9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>
                <a:solidFill>
                  <a:srgbClr val="FF0000"/>
                </a:solidFill>
              </a:rPr>
              <a:t>(model.py)</a:t>
            </a:r>
            <a:r>
              <a:rPr lang="en-TW" dirty="0"/>
              <a:t> Policy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0A7C6-73E6-F3D0-D179-EA0554201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6584" y="2130316"/>
            <a:ext cx="9603701" cy="4191000"/>
          </a:xfrm>
        </p:spPr>
        <p:txBody>
          <a:bodyPr>
            <a:normAutofit/>
          </a:bodyPr>
          <a:lstStyle/>
          <a:p>
            <a:r>
              <a:rPr lang="en-TW" b="1" dirty="0">
                <a:latin typeface="Consolas" panose="020B0609020204030204" pitchFamily="49" charset="0"/>
                <a:cs typeface="Consolas" panose="020B0609020204030204" pitchFamily="49" charset="0"/>
              </a:rPr>
              <a:t>PolicyNet</a:t>
            </a:r>
            <a:r>
              <a:rPr lang="en-TW" dirty="0"/>
              <a:t> class contains the following methods:</a:t>
            </a:r>
          </a:p>
          <a:p>
            <a:pPr lvl="1"/>
            <a:r>
              <a:rPr lang="en-TW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__init__</a:t>
            </a:r>
            <a:r>
              <a:rPr lang="en-TW" b="1" dirty="0">
                <a:latin typeface="Consolas" panose="020B0609020204030204" pitchFamily="49" charset="0"/>
                <a:cs typeface="Consolas" panose="020B0609020204030204" pitchFamily="49" charset="0"/>
              </a:rPr>
              <a:t>(self, s_dim, a_dim, std)</a:t>
            </a:r>
          </a:p>
          <a:p>
            <a:pPr lvl="2"/>
            <a:r>
              <a:rPr lang="en-US" dirty="0">
                <a:solidFill>
                  <a:srgbClr val="FF0000"/>
                </a:solidFill>
                <a:cs typeface="Consolas" panose="020B0609020204030204" pitchFamily="49" charset="0"/>
              </a:rPr>
              <a:t>(TODO) </a:t>
            </a:r>
            <a:r>
              <a:rPr lang="en-US" dirty="0">
                <a:cs typeface="Consolas" panose="020B0609020204030204" pitchFamily="49" charset="0"/>
              </a:rPr>
              <a:t>Initializes the policy network with state/action dimensions and configures network layers. </a:t>
            </a:r>
            <a:endParaRPr lang="en-US" dirty="0">
              <a:solidFill>
                <a:srgbClr val="FF0000"/>
              </a:solidFill>
              <a:cs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forward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(self, state, deterministic)</a:t>
            </a:r>
          </a:p>
          <a:p>
            <a:pPr lvl="2"/>
            <a:r>
              <a:rPr lang="en-US" dirty="0">
                <a:cs typeface="Consolas" panose="020B0609020204030204" pitchFamily="49" charset="0"/>
              </a:rPr>
              <a:t>Computes action and log-probability from state, sampling stochastically or deterministically based on input flag.</a:t>
            </a:r>
          </a:p>
          <a:p>
            <a:pPr lvl="1">
              <a:lnSpc>
                <a:spcPct val="150000"/>
              </a:lnSpc>
            </a:pPr>
            <a:r>
              <a:rPr lang="en-US" b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action_step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(self, state, deterministic)</a:t>
            </a:r>
          </a:p>
          <a:p>
            <a:pPr lvl="2"/>
            <a:r>
              <a:rPr lang="en-US" dirty="0">
                <a:cs typeface="Consolas" panose="020B0609020204030204" pitchFamily="49" charset="0"/>
              </a:rPr>
              <a:t>Outputs a single action from state, with optional deterministic mode for evaluation.</a:t>
            </a:r>
          </a:p>
          <a:p>
            <a:pPr lvl="1">
              <a:lnSpc>
                <a:spcPct val="150000"/>
              </a:lnSpc>
            </a:pPr>
            <a:r>
              <a:rPr lang="en-TW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evaluate</a:t>
            </a:r>
            <a:r>
              <a:rPr lang="en-TW" b="1" dirty="0">
                <a:latin typeface="Consolas" panose="020B0609020204030204" pitchFamily="49" charset="0"/>
                <a:cs typeface="Consolas" panose="020B0609020204030204" pitchFamily="49" charset="0"/>
              </a:rPr>
              <a:t>(self, state, action)</a:t>
            </a:r>
          </a:p>
          <a:p>
            <a:pPr lvl="2"/>
            <a:r>
              <a:rPr lang="en-US" dirty="0">
                <a:cs typeface="Consolas" panose="020B0609020204030204" pitchFamily="49" charset="0"/>
              </a:rPr>
              <a:t>Computes log-probabilities and entropy for given state-action pairs, used for policy gradient calculations.</a:t>
            </a:r>
            <a:endParaRPr lang="en-TW" dirty="0"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EF8E4-77E3-A485-3F97-3DC2B13D4A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005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FA1E1-1D96-6BE2-8516-79572CD28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TODO 1 </a:t>
            </a:r>
            <a:r>
              <a:rPr lang="en-TW" dirty="0">
                <a:solidFill>
                  <a:srgbClr val="FF0000"/>
                </a:solidFill>
              </a:rPr>
              <a:t>(model.py)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99C43-5D38-A9C3-A3FD-73F2CB62C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W" dirty="0"/>
              <a:t>Implement the policy network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F55CC-541A-F820-A583-1B17C779EC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D8C050-5F38-E19A-04D3-7DC62935FBF2}"/>
              </a:ext>
            </a:extLst>
          </p:cNvPr>
          <p:cNvSpPr txBox="1"/>
          <p:nvPr/>
        </p:nvSpPr>
        <p:spPr>
          <a:xfrm>
            <a:off x="6241409" y="2944428"/>
            <a:ext cx="4924746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pPr algn="l"/>
            <a:r>
              <a:rPr lang="en-TW" dirty="0">
                <a:solidFill>
                  <a:srgbClr val="FF0000"/>
                </a:solidFill>
              </a:rPr>
              <a:t>(Hint: use </a:t>
            </a:r>
            <a:r>
              <a:rPr lang="en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nn.Sequential</a:t>
            </a:r>
            <a:r>
              <a:rPr lang="en-TW" dirty="0">
                <a:solidFill>
                  <a:srgbClr val="FF0000"/>
                </a:solidFill>
                <a:cs typeface="Consolas" panose="020B0609020204030204" pitchFamily="49" charset="0"/>
              </a:rPr>
              <a:t> </a:t>
            </a:r>
            <a:r>
              <a:rPr lang="en-TW" dirty="0">
                <a:solidFill>
                  <a:srgbClr val="FF0000"/>
                </a:solidFill>
              </a:rPr>
              <a:t>&amp; </a:t>
            </a:r>
            <a:r>
              <a:rPr lang="en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DiagGaussian)</a:t>
            </a:r>
          </a:p>
        </p:txBody>
      </p:sp>
      <p:pic>
        <p:nvPicPr>
          <p:cNvPr id="7" name="圖片 11">
            <a:extLst>
              <a:ext uri="{FF2B5EF4-FFF2-40B4-BE49-F238E27FC236}">
                <a16:creationId xmlns:a16="http://schemas.microsoft.com/office/drawing/2014/main" id="{AF4F5889-DE31-DAA6-F02A-9C56517C1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1793" y="3645158"/>
            <a:ext cx="5068921" cy="16538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44895A-B351-CF29-9164-D15F2B1C3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866" y="2346091"/>
            <a:ext cx="4179182" cy="367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861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254AE-5C23-813C-F598-387E87D52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CE5C8-68CB-A903-0E16-9B07E4226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>
                <a:solidFill>
                  <a:srgbClr val="FF0000"/>
                </a:solidFill>
              </a:rPr>
              <a:t>(model.py)</a:t>
            </a:r>
            <a:r>
              <a:rPr lang="en-TW" dirty="0"/>
              <a:t> Value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3C708-A1A8-25E2-31C5-47C607221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6584" y="2130316"/>
            <a:ext cx="9603701" cy="4191000"/>
          </a:xfrm>
        </p:spPr>
        <p:txBody>
          <a:bodyPr>
            <a:normAutofit/>
          </a:bodyPr>
          <a:lstStyle/>
          <a:p>
            <a:r>
              <a:rPr lang="en-TW" b="1" dirty="0">
                <a:latin typeface="Consolas" panose="020B0609020204030204" pitchFamily="49" charset="0"/>
                <a:cs typeface="Consolas" panose="020B0609020204030204" pitchFamily="49" charset="0"/>
              </a:rPr>
              <a:t>ValueNet</a:t>
            </a:r>
            <a:r>
              <a:rPr lang="en-TW" dirty="0"/>
              <a:t> class contains the following methods:</a:t>
            </a:r>
          </a:p>
          <a:p>
            <a:pPr lvl="1"/>
            <a:r>
              <a:rPr lang="en-TW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__init__</a:t>
            </a:r>
            <a:r>
              <a:rPr lang="en-TW" b="1" dirty="0">
                <a:latin typeface="Consolas" panose="020B0609020204030204" pitchFamily="49" charset="0"/>
                <a:cs typeface="Consolas" panose="020B0609020204030204" pitchFamily="49" charset="0"/>
              </a:rPr>
              <a:t>(self, s_dim)</a:t>
            </a:r>
          </a:p>
          <a:p>
            <a:pPr lvl="2"/>
            <a:r>
              <a:rPr lang="en-US" dirty="0">
                <a:solidFill>
                  <a:srgbClr val="FF0000"/>
                </a:solidFill>
                <a:cs typeface="Consolas" panose="020B0609020204030204" pitchFamily="49" charset="0"/>
              </a:rPr>
              <a:t>(TODO) </a:t>
            </a:r>
            <a:r>
              <a:rPr lang="en-US" dirty="0">
                <a:cs typeface="Consolas" panose="020B0609020204030204" pitchFamily="49" charset="0"/>
              </a:rPr>
              <a:t>Initializes the value network with state dimension and configures network layers.</a:t>
            </a:r>
            <a:endParaRPr lang="en-US" dirty="0">
              <a:solidFill>
                <a:srgbClr val="FF0000"/>
              </a:solidFill>
              <a:cs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forward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(self, state)</a:t>
            </a:r>
          </a:p>
          <a:p>
            <a:pPr lvl="2"/>
            <a:r>
              <a:rPr lang="en-US" dirty="0">
                <a:cs typeface="Consolas" panose="020B0609020204030204" pitchFamily="49" charset="0"/>
              </a:rPr>
              <a:t>Computes the state value estimate by passing state through the network and extracting the scalar output.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30A44-6E20-5B95-F8DC-E5EBEC7E89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272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3992D-F527-3F1A-B109-E18DD960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7C606-21C2-458F-6AB8-6FB701953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TODO 2 </a:t>
            </a:r>
            <a:r>
              <a:rPr lang="en-TW" dirty="0">
                <a:solidFill>
                  <a:srgbClr val="FF0000"/>
                </a:solidFill>
              </a:rPr>
              <a:t>(model.py)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11AE3-20FA-D45F-CB86-89169CD96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W" dirty="0"/>
              <a:t>Implement the value network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BFA1E-4FBF-AC9C-67F6-291376E5FC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BBE955-C112-EEDD-511F-2A318A1EAAF9}"/>
              </a:ext>
            </a:extLst>
          </p:cNvPr>
          <p:cNvSpPr txBox="1"/>
          <p:nvPr/>
        </p:nvSpPr>
        <p:spPr>
          <a:xfrm>
            <a:off x="7151914" y="2973601"/>
            <a:ext cx="3103735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pPr algn="l"/>
            <a:r>
              <a:rPr lang="en-TW" dirty="0">
                <a:solidFill>
                  <a:srgbClr val="FF0000"/>
                </a:solidFill>
              </a:rPr>
              <a:t>(Hint: use </a:t>
            </a:r>
            <a:r>
              <a:rPr lang="en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nn.Sequential)</a:t>
            </a:r>
          </a:p>
        </p:txBody>
      </p:sp>
      <p:pic>
        <p:nvPicPr>
          <p:cNvPr id="10" name="圖片 11">
            <a:extLst>
              <a:ext uri="{FF2B5EF4-FFF2-40B4-BE49-F238E27FC236}">
                <a16:creationId xmlns:a16="http://schemas.microsoft.com/office/drawing/2014/main" id="{B3E1A8B2-65B6-4956-6F05-FE69630BE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2419" y="3515068"/>
            <a:ext cx="2542724" cy="16863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CDC3F5-1D8F-F961-DE4E-A74547C6C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641" y="2399565"/>
            <a:ext cx="4268359" cy="3620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321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6BBA5-5019-7013-1475-1D3376B55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51A0A-5053-7EEA-EE50-88BFAFD6A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>
                <a:solidFill>
                  <a:srgbClr val="FF0000"/>
                </a:solidFill>
              </a:rPr>
              <a:t>(env_runner.py)</a:t>
            </a:r>
            <a:r>
              <a:rPr lang="en-TW" dirty="0"/>
              <a:t> EnvRunner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332B6-DD78-1FB4-53C1-8F01C7D55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6584" y="2130316"/>
            <a:ext cx="9603701" cy="4191000"/>
          </a:xfrm>
        </p:spPr>
        <p:txBody>
          <a:bodyPr>
            <a:normAutofit lnSpcReduction="10000"/>
          </a:bodyPr>
          <a:lstStyle/>
          <a:p>
            <a:r>
              <a:rPr lang="en-TW" b="1" dirty="0">
                <a:latin typeface="Consolas" panose="020B0609020204030204" pitchFamily="49" charset="0"/>
                <a:cs typeface="Consolas" panose="020B0609020204030204" pitchFamily="49" charset="0"/>
              </a:rPr>
              <a:t>EnvRunner</a:t>
            </a:r>
            <a:r>
              <a:rPr lang="en-TW" dirty="0"/>
              <a:t> class contains the following methods:</a:t>
            </a:r>
          </a:p>
          <a:p>
            <a:pPr lvl="1"/>
            <a:r>
              <a:rPr lang="en-TW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__init__</a:t>
            </a:r>
            <a:r>
              <a:rPr lang="en-TW" b="1" dirty="0">
                <a:latin typeface="Consolas" panose="020B0609020204030204" pitchFamily="49" charset="0"/>
                <a:cs typeface="Consolas" panose="020B0609020204030204" pitchFamily="49" charset="0"/>
              </a:rPr>
              <a:t>(self, env, s_dim, a_dim, n_step, gamma, lamb, device)</a:t>
            </a:r>
          </a:p>
          <a:p>
            <a:pPr lvl="2"/>
            <a:r>
              <a:rPr lang="en-US" dirty="0">
                <a:cs typeface="Consolas" panose="020B0609020204030204" pitchFamily="49" charset="0"/>
              </a:rPr>
              <a:t>Initializes the environment runner with environment, network dimensions, and pre-allocates storage buffers for trajectory data collection.</a:t>
            </a:r>
            <a:endParaRPr lang="en-US" dirty="0">
              <a:solidFill>
                <a:srgbClr val="FF0000"/>
              </a:solidFill>
              <a:cs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(self,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policy_net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value_net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2"/>
            <a:r>
              <a:rPr lang="en-US" dirty="0">
                <a:solidFill>
                  <a:srgbClr val="FF0000"/>
                </a:solidFill>
                <a:cs typeface="Consolas" panose="020B0609020204030204" pitchFamily="49" charset="0"/>
              </a:rPr>
              <a:t>(TODO)</a:t>
            </a:r>
            <a:r>
              <a:rPr lang="en-US" dirty="0">
                <a:cs typeface="Consolas" panose="020B0609020204030204" pitchFamily="49" charset="0"/>
              </a:rPr>
              <a:t> Collects n-step trajectories from parallel environments and returns batches of states, actions, log-probabilities, values, and GAE returns for training.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record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(self)</a:t>
            </a:r>
          </a:p>
          <a:p>
            <a:pPr lvl="2"/>
            <a:r>
              <a:rPr lang="en-US" dirty="0">
                <a:cs typeface="Consolas" panose="020B0609020204030204" pitchFamily="49" charset="0"/>
              </a:rPr>
              <a:t>Tracks cumulative rewards and episode lengths, storing completed episode metrics in buffers for performance monitoring.</a:t>
            </a:r>
          </a:p>
          <a:p>
            <a:pPr lvl="1">
              <a:lnSpc>
                <a:spcPct val="150000"/>
              </a:lnSpc>
            </a:pPr>
            <a:r>
              <a:rPr lang="en-TW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get_performance</a:t>
            </a:r>
            <a:r>
              <a:rPr lang="en-TW" b="1" dirty="0">
                <a:latin typeface="Consolas" panose="020B0609020204030204" pitchFamily="49" charset="0"/>
                <a:cs typeface="Consolas" panose="020B0609020204030204" pitchFamily="49" charset="0"/>
              </a:rPr>
              <a:t>(self)</a:t>
            </a:r>
          </a:p>
          <a:p>
            <a:pPr lvl="2"/>
            <a:r>
              <a:rPr lang="en-US" dirty="0">
                <a:cs typeface="Consolas" panose="020B0609020204030204" pitchFamily="49" charset="0"/>
              </a:rPr>
              <a:t>Computes and returns mean/std of episode returns and mean episode length from the recorded episode history.</a:t>
            </a:r>
            <a:endParaRPr lang="en-TW" dirty="0"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B1E61-FB50-B1F5-A091-A8212635F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136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EE45D-4EE8-8A29-9604-A680A2108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3F2FF-D6DD-49D0-D422-CD866CD68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TODO 3 </a:t>
            </a:r>
            <a:r>
              <a:rPr lang="en-TW" dirty="0">
                <a:solidFill>
                  <a:srgbClr val="FF0000"/>
                </a:solidFill>
              </a:rPr>
              <a:t>(env_runner.py)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1C258-07B3-7A4A-E689-60F3ED577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W" dirty="0"/>
              <a:t>Complete the </a:t>
            </a:r>
            <a:r>
              <a:rPr lang="en-TW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</a:t>
            </a:r>
            <a:r>
              <a:rPr lang="en-TW" dirty="0"/>
              <a:t> method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D3AD9-F215-B2BF-83FA-066351ED32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F971D4-C7CE-D475-072F-18FB047C7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811" y="2386402"/>
            <a:ext cx="4954398" cy="35109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7FE97C-1FDE-7DAA-C4BA-A35EFCE1D891}"/>
              </a:ext>
            </a:extLst>
          </p:cNvPr>
          <p:cNvSpPr txBox="1"/>
          <p:nvPr/>
        </p:nvSpPr>
        <p:spPr>
          <a:xfrm>
            <a:off x="6796801" y="3162152"/>
            <a:ext cx="4229043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pPr algn="l"/>
            <a:r>
              <a:rPr lang="en-TW" dirty="0">
                <a:solidFill>
                  <a:srgbClr val="FF0000"/>
                </a:solidFill>
              </a:rPr>
              <a:t>(Hint: use </a:t>
            </a:r>
            <a:r>
              <a:rPr lang="en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value_net</a:t>
            </a:r>
            <a:r>
              <a:rPr lang="en-TW" dirty="0">
                <a:solidFill>
                  <a:srgbClr val="FF0000"/>
                </a:solidFill>
                <a:cs typeface="Consolas" panose="020B0609020204030204" pitchFamily="49" charset="0"/>
              </a:rPr>
              <a:t> &amp; </a:t>
            </a:r>
            <a:r>
              <a:rPr lang="en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policy_net)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4F58CC-6834-5383-EA73-48B7AC042DCE}"/>
              </a:ext>
            </a:extLst>
          </p:cNvPr>
          <p:cNvSpPr txBox="1"/>
          <p:nvPr/>
        </p:nvSpPr>
        <p:spPr>
          <a:xfrm>
            <a:off x="6941276" y="3568000"/>
            <a:ext cx="4394758" cy="226876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mb_states</a:t>
            </a:r>
            <a:r>
              <a:rPr lang="en-US" altLang="zh-TW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altLang="zh-TW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TW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n_step</a:t>
            </a:r>
            <a:r>
              <a:rPr lang="en-US" altLang="zh-TW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TW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n_env</a:t>
            </a:r>
            <a:r>
              <a:rPr lang="en-US" altLang="zh-TW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TW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s_dim</a:t>
            </a:r>
            <a:r>
              <a:rPr lang="en-US" altLang="zh-TW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TW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mb_actions</a:t>
            </a:r>
            <a:r>
              <a:rPr lang="en-US" altLang="zh-TW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altLang="zh-TW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TW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n_step</a:t>
            </a:r>
            <a:r>
              <a:rPr lang="en-US" altLang="zh-TW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TW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n_env</a:t>
            </a:r>
            <a:r>
              <a:rPr lang="en-US" altLang="zh-TW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TW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a_dim</a:t>
            </a:r>
            <a:r>
              <a:rPr lang="en-US" altLang="zh-TW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TW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mb_dones</a:t>
            </a:r>
            <a:r>
              <a:rPr lang="en-US" altLang="zh-TW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altLang="zh-TW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TW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n_step</a:t>
            </a:r>
            <a:r>
              <a:rPr lang="en-US" altLang="zh-TW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TW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n_env</a:t>
            </a:r>
            <a:r>
              <a:rPr lang="en-US" altLang="zh-TW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US" altLang="zh-TW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mb_a_logps</a:t>
            </a:r>
            <a:r>
              <a:rPr lang="en-US" altLang="zh-TW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altLang="zh-TW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TW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n_step</a:t>
            </a:r>
            <a:r>
              <a:rPr lang="en-US" altLang="zh-TW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TW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n_env</a:t>
            </a:r>
            <a:r>
              <a:rPr lang="en-US" altLang="zh-TW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TW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mb_values</a:t>
            </a:r>
            <a:r>
              <a:rPr lang="en-US" altLang="zh-TW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altLang="zh-TW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TW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n_step</a:t>
            </a:r>
            <a:r>
              <a:rPr lang="en-US" altLang="zh-TW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TW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n_env</a:t>
            </a:r>
            <a:r>
              <a:rPr lang="en-US" altLang="zh-TW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TW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mb_rewards</a:t>
            </a:r>
            <a:r>
              <a:rPr lang="en-US" altLang="zh-TW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altLang="zh-TW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TW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n_step</a:t>
            </a:r>
            <a:r>
              <a:rPr lang="en-US" altLang="zh-TW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TW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n_env</a:t>
            </a:r>
            <a:r>
              <a:rPr lang="en-US" altLang="zh-TW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zh-TW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7" name="圖片 16">
            <a:extLst>
              <a:ext uri="{FF2B5EF4-FFF2-40B4-BE49-F238E27FC236}">
                <a16:creationId xmlns:a16="http://schemas.microsoft.com/office/drawing/2014/main" id="{1AE79385-C335-C70C-5483-A30CFE5B0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318" y="787786"/>
            <a:ext cx="2424907" cy="2082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451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4829F-FCA7-0552-E9C3-3CE84685D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30097-05EE-15BD-35D0-77573DACC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>
                <a:solidFill>
                  <a:srgbClr val="FF0000"/>
                </a:solidFill>
              </a:rPr>
              <a:t>(agent.py)</a:t>
            </a:r>
            <a:r>
              <a:rPr lang="en-TW" dirty="0"/>
              <a:t> PPO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4C9FA-1EB6-10AC-BC85-012CA0D3C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6584" y="2130316"/>
            <a:ext cx="9603701" cy="4191000"/>
          </a:xfrm>
        </p:spPr>
        <p:txBody>
          <a:bodyPr>
            <a:normAutofit/>
          </a:bodyPr>
          <a:lstStyle/>
          <a:p>
            <a:r>
              <a:rPr lang="en-TW" b="1" dirty="0">
                <a:latin typeface="Consolas" panose="020B0609020204030204" pitchFamily="49" charset="0"/>
                <a:cs typeface="Consolas" panose="020B0609020204030204" pitchFamily="49" charset="0"/>
              </a:rPr>
              <a:t>PPO</a:t>
            </a:r>
            <a:r>
              <a:rPr lang="en-TW" dirty="0"/>
              <a:t> class contains the following methods:</a:t>
            </a:r>
          </a:p>
          <a:p>
            <a:pPr lvl="1"/>
            <a:r>
              <a:rPr lang="en-TW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__init__</a:t>
            </a:r>
            <a:r>
              <a:rPr lang="en-TW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TW" b="1" dirty="0">
                <a:latin typeface="Consolas" panose="020B0609020204030204" pitchFamily="49" charset="0"/>
              </a:rPr>
              <a:t>self, </a:t>
            </a:r>
            <a:r>
              <a:rPr lang="en-US" altLang="zh-TW" b="1" dirty="0" err="1">
                <a:latin typeface="Consolas" panose="020B0609020204030204" pitchFamily="49" charset="0"/>
              </a:rPr>
              <a:t>policy_net</a:t>
            </a:r>
            <a:r>
              <a:rPr lang="en-US" altLang="zh-TW" b="1" dirty="0">
                <a:latin typeface="Consolas" panose="020B0609020204030204" pitchFamily="49" charset="0"/>
              </a:rPr>
              <a:t>, </a:t>
            </a:r>
            <a:r>
              <a:rPr lang="en-US" altLang="zh-TW" b="1" dirty="0" err="1">
                <a:latin typeface="Consolas" panose="020B0609020204030204" pitchFamily="49" charset="0"/>
              </a:rPr>
              <a:t>value_net</a:t>
            </a:r>
            <a:r>
              <a:rPr lang="en-US" altLang="zh-TW" b="1" dirty="0">
                <a:latin typeface="Consolas" panose="020B0609020204030204" pitchFamily="49" charset="0"/>
              </a:rPr>
              <a:t>, </a:t>
            </a:r>
            <a:r>
              <a:rPr lang="en-US" altLang="zh-TW" b="1" dirty="0" err="1">
                <a:latin typeface="Consolas" panose="020B0609020204030204" pitchFamily="49" charset="0"/>
              </a:rPr>
              <a:t>lr</a:t>
            </a:r>
            <a:r>
              <a:rPr lang="en-US" altLang="zh-TW" b="1" dirty="0">
                <a:latin typeface="Consolas" panose="020B0609020204030204" pitchFamily="49" charset="0"/>
              </a:rPr>
              <a:t>, </a:t>
            </a:r>
            <a:r>
              <a:rPr lang="en-US" altLang="zh-TW" b="1" dirty="0" err="1">
                <a:latin typeface="Consolas" panose="020B0609020204030204" pitchFamily="49" charset="0"/>
              </a:rPr>
              <a:t>max_grad_norm</a:t>
            </a:r>
            <a:r>
              <a:rPr lang="en-US" altLang="zh-TW" b="1" dirty="0">
                <a:latin typeface="Consolas" panose="020B0609020204030204" pitchFamily="49" charset="0"/>
              </a:rPr>
              <a:t>, </a:t>
            </a:r>
            <a:r>
              <a:rPr lang="en-US" altLang="zh-TW" b="1" dirty="0" err="1">
                <a:latin typeface="Consolas" panose="020B0609020204030204" pitchFamily="49" charset="0"/>
              </a:rPr>
              <a:t>clip_val</a:t>
            </a:r>
            <a:r>
              <a:rPr lang="en-US" altLang="zh-TW" b="1" dirty="0">
                <a:latin typeface="Consolas" panose="020B0609020204030204" pitchFamily="49" charset="0"/>
              </a:rPr>
              <a:t>, </a:t>
            </a:r>
            <a:r>
              <a:rPr lang="en-US" altLang="zh-TW" b="1" dirty="0" err="1">
                <a:latin typeface="Consolas" panose="020B0609020204030204" pitchFamily="49" charset="0"/>
              </a:rPr>
              <a:t>sample_n_epoch</a:t>
            </a:r>
            <a:r>
              <a:rPr lang="en-US" altLang="zh-TW" b="1" dirty="0">
                <a:latin typeface="Consolas" panose="020B0609020204030204" pitchFamily="49" charset="0"/>
              </a:rPr>
              <a:t>, </a:t>
            </a:r>
            <a:r>
              <a:rPr lang="en-US" altLang="zh-TW" b="1" dirty="0" err="1">
                <a:latin typeface="Consolas" panose="020B0609020204030204" pitchFamily="49" charset="0"/>
              </a:rPr>
              <a:t>sample_mb_size</a:t>
            </a:r>
            <a:r>
              <a:rPr lang="en-US" altLang="zh-TW" b="1" dirty="0">
                <a:latin typeface="Consolas" panose="020B0609020204030204" pitchFamily="49" charset="0"/>
              </a:rPr>
              <a:t>, </a:t>
            </a:r>
            <a:r>
              <a:rPr lang="en-US" altLang="zh-TW" b="1" dirty="0" err="1">
                <a:latin typeface="Consolas" panose="020B0609020204030204" pitchFamily="49" charset="0"/>
              </a:rPr>
              <a:t>mb_size</a:t>
            </a:r>
            <a:r>
              <a:rPr lang="en-US" altLang="zh-TW" b="1" dirty="0">
                <a:latin typeface="Consolas" panose="020B0609020204030204" pitchFamily="49" charset="0"/>
              </a:rPr>
              <a:t>, device</a:t>
            </a:r>
            <a:r>
              <a:rPr lang="en-TW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2"/>
            <a:r>
              <a:rPr lang="en-US" dirty="0">
                <a:cs typeface="Consolas" panose="020B0609020204030204" pitchFamily="49" charset="0"/>
              </a:rPr>
              <a:t>Initializes the PPO agent with policy/value networks, optimizers, and hyperparameters for clipping, learning rate, and batch sampling.</a:t>
            </a:r>
            <a:endParaRPr lang="en-US" dirty="0">
              <a:solidFill>
                <a:srgbClr val="FF0000"/>
              </a:solidFill>
              <a:cs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en-US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train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TW" b="1" dirty="0">
                <a:latin typeface="Consolas" panose="020B0609020204030204" pitchFamily="49" charset="0"/>
              </a:rPr>
              <a:t>self, </a:t>
            </a:r>
            <a:r>
              <a:rPr lang="en-US" altLang="zh-TW" b="1" dirty="0" err="1">
                <a:latin typeface="Consolas" panose="020B0609020204030204" pitchFamily="49" charset="0"/>
              </a:rPr>
              <a:t>mb_states</a:t>
            </a:r>
            <a:r>
              <a:rPr lang="en-US" altLang="zh-TW" b="1" dirty="0">
                <a:latin typeface="Consolas" panose="020B0609020204030204" pitchFamily="49" charset="0"/>
              </a:rPr>
              <a:t>, </a:t>
            </a:r>
            <a:r>
              <a:rPr lang="en-US" altLang="zh-TW" b="1" dirty="0" err="1">
                <a:latin typeface="Consolas" panose="020B0609020204030204" pitchFamily="49" charset="0"/>
              </a:rPr>
              <a:t>mb_actions</a:t>
            </a:r>
            <a:r>
              <a:rPr lang="en-US" altLang="zh-TW" b="1" dirty="0">
                <a:latin typeface="Consolas" panose="020B0609020204030204" pitchFamily="49" charset="0"/>
              </a:rPr>
              <a:t>, </a:t>
            </a:r>
            <a:r>
              <a:rPr lang="en-US" altLang="zh-TW" b="1" dirty="0" err="1">
                <a:latin typeface="Consolas" panose="020B0609020204030204" pitchFamily="49" charset="0"/>
              </a:rPr>
              <a:t>mb_old_values</a:t>
            </a:r>
            <a:r>
              <a:rPr lang="en-US" altLang="zh-TW" b="1" dirty="0">
                <a:latin typeface="Consolas" panose="020B0609020204030204" pitchFamily="49" charset="0"/>
              </a:rPr>
              <a:t>, </a:t>
            </a:r>
            <a:r>
              <a:rPr lang="en-US" altLang="zh-TW" b="1" dirty="0" err="1">
                <a:latin typeface="Consolas" panose="020B0609020204030204" pitchFamily="49" charset="0"/>
              </a:rPr>
              <a:t>mb_advs</a:t>
            </a:r>
            <a:r>
              <a:rPr lang="en-US" altLang="zh-TW" b="1" dirty="0">
                <a:latin typeface="Consolas" panose="020B0609020204030204" pitchFamily="49" charset="0"/>
              </a:rPr>
              <a:t>, </a:t>
            </a:r>
            <a:r>
              <a:rPr lang="en-US" altLang="zh-TW" b="1" dirty="0" err="1">
                <a:latin typeface="Consolas" panose="020B0609020204030204" pitchFamily="49" charset="0"/>
              </a:rPr>
              <a:t>mb_returns</a:t>
            </a:r>
            <a:r>
              <a:rPr lang="en-US" altLang="zh-TW" b="1" dirty="0">
                <a:latin typeface="Consolas" panose="020B0609020204030204" pitchFamily="49" charset="0"/>
              </a:rPr>
              <a:t>, </a:t>
            </a:r>
            <a:r>
              <a:rPr lang="en-US" altLang="zh-TW" b="1" dirty="0" err="1">
                <a:latin typeface="Consolas" panose="020B0609020204030204" pitchFamily="49" charset="0"/>
              </a:rPr>
              <a:t>mb_old_a_logps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2"/>
            <a:r>
              <a:rPr lang="en-US" dirty="0">
                <a:solidFill>
                  <a:srgbClr val="FF0000"/>
                </a:solidFill>
                <a:cs typeface="Consolas" panose="020B0609020204030204" pitchFamily="49" charset="0"/>
              </a:rPr>
              <a:t>(TODO)</a:t>
            </a:r>
            <a:r>
              <a:rPr lang="en-US" dirty="0">
                <a:cs typeface="Consolas" panose="020B0609020204030204" pitchFamily="49" charset="0"/>
              </a:rPr>
              <a:t> Performs PPO training over multiple epochs by sampling mini-batches, computing clipped policy and value losses, and updating both networks with gradient clipping.</a:t>
            </a:r>
          </a:p>
          <a:p>
            <a:pPr lvl="1">
              <a:lnSpc>
                <a:spcPct val="150000"/>
              </a:lnSpc>
            </a:pPr>
            <a:r>
              <a:rPr lang="en-US" b="1" dirty="0" err="1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lr_decay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TW" b="1" dirty="0">
                <a:latin typeface="Consolas" panose="020B0609020204030204" pitchFamily="49" charset="0"/>
              </a:rPr>
              <a:t>self, it, </a:t>
            </a:r>
            <a:r>
              <a:rPr lang="en-US" altLang="zh-TW" b="1" dirty="0" err="1">
                <a:latin typeface="Consolas" panose="020B0609020204030204" pitchFamily="49" charset="0"/>
              </a:rPr>
              <a:t>n_it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2"/>
            <a:r>
              <a:rPr lang="en-US" dirty="0">
                <a:cs typeface="Consolas" panose="020B0609020204030204" pitchFamily="49" charset="0"/>
              </a:rPr>
              <a:t>Applies linear learning rate decay to both actor and critic optimizers.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16560-28BF-0C49-B864-486CE4C5B4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138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2D2AB-9E91-8A99-C7E4-8C3F0DFBC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8EFD1-6516-1292-418D-F276D474F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TODO 4 </a:t>
            </a:r>
            <a:r>
              <a:rPr lang="en-TW" dirty="0">
                <a:solidFill>
                  <a:srgbClr val="FF0000"/>
                </a:solidFill>
              </a:rPr>
              <a:t>(agent.py)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45E5A-7DF4-C3C0-4BC5-F69C74A34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1789" y="1966181"/>
            <a:ext cx="5009964" cy="443060"/>
          </a:xfrm>
        </p:spPr>
        <p:txBody>
          <a:bodyPr/>
          <a:lstStyle/>
          <a:p>
            <a:r>
              <a:rPr lang="en-TW" dirty="0"/>
              <a:t>Implement the policy gradient loss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2E0C3-73E7-4DD6-C2F1-31FF8C7013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EAD252-C2FB-8C26-6F73-4DD7379AC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789" y="2409241"/>
            <a:ext cx="5943218" cy="39907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0F935B4-4F81-80BF-648C-C4A4F78D674C}"/>
              </a:ext>
            </a:extLst>
          </p:cNvPr>
          <p:cNvSpPr txBox="1"/>
          <p:nvPr/>
        </p:nvSpPr>
        <p:spPr>
          <a:xfrm>
            <a:off x="7101986" y="2409241"/>
            <a:ext cx="4281087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TW" dirty="0">
                <a:solidFill>
                  <a:srgbClr val="FF0000"/>
                </a:solidFill>
              </a:rPr>
              <a:t>(Hint: </a:t>
            </a:r>
            <a:r>
              <a:rPr lang="en-US" dirty="0">
                <a:solidFill>
                  <a:srgbClr val="FF0000"/>
                </a:solidFill>
              </a:rPr>
              <a:t>Use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sample_a_logps</a:t>
            </a:r>
            <a:r>
              <a:rPr lang="en-US" dirty="0">
                <a:solidFill>
                  <a:srgbClr val="FF0000"/>
                </a:solidFill>
              </a:rPr>
              <a:t> &amp;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sample_old_a_logps</a:t>
            </a:r>
            <a:r>
              <a:rPr lang="en-US" dirty="0">
                <a:solidFill>
                  <a:srgbClr val="FF0000"/>
                </a:solidFill>
              </a:rPr>
              <a:t> to compute the probability ratio</a:t>
            </a:r>
            <a:r>
              <a:rPr lang="en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pic>
        <p:nvPicPr>
          <p:cNvPr id="13" name="圖片 5">
            <a:extLst>
              <a:ext uri="{FF2B5EF4-FFF2-40B4-BE49-F238E27FC236}">
                <a16:creationId xmlns:a16="http://schemas.microsoft.com/office/drawing/2014/main" id="{23E1CE01-B3DF-62E1-EBA3-9A63B742B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6100" y="3568210"/>
            <a:ext cx="2126429" cy="836395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FDDD953B-2762-BC5B-AD9F-27E1B6A490BD}"/>
              </a:ext>
            </a:extLst>
          </p:cNvPr>
          <p:cNvGrpSpPr/>
          <p:nvPr/>
        </p:nvGrpSpPr>
        <p:grpSpPr>
          <a:xfrm>
            <a:off x="7116100" y="4640244"/>
            <a:ext cx="4266973" cy="898056"/>
            <a:chOff x="7116100" y="4640244"/>
            <a:chExt cx="4266973" cy="898056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5E154CE2-8AE0-0E61-95CA-8F2C3E8D70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44353"/>
            <a:stretch>
              <a:fillRect/>
            </a:stretch>
          </p:blipFill>
          <p:spPr>
            <a:xfrm>
              <a:off x="7116100" y="4640244"/>
              <a:ext cx="4046146" cy="466095"/>
            </a:xfrm>
            <a:prstGeom prst="rect">
              <a:avLst/>
            </a:prstGeom>
          </p:spPr>
        </p:pic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96B4E583-CF54-00B1-BC53-A6CCB1E53B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6754"/>
            <a:stretch>
              <a:fillRect/>
            </a:stretch>
          </p:blipFill>
          <p:spPr>
            <a:xfrm>
              <a:off x="8734141" y="5145656"/>
              <a:ext cx="2648932" cy="3926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56008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DDC2A-C4D2-A7D2-DE56-3A98DC7BA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TODO 5 </a:t>
            </a:r>
            <a:r>
              <a:rPr lang="en-TW" dirty="0">
                <a:solidFill>
                  <a:srgbClr val="FF0000"/>
                </a:solidFill>
              </a:rPr>
              <a:t>(train.py)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A5D69-CDB4-4EF6-6854-311A15E66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923069"/>
            <a:ext cx="5321049" cy="41910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n_env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/>
              <a:t>number of environments (actors)</a:t>
            </a:r>
          </a:p>
          <a:p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n_step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dirty="0"/>
              <a:t>number of step for runner</a:t>
            </a:r>
          </a:p>
          <a:p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sample_mb_size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dirty="0"/>
              <a:t>sample mini-batch size</a:t>
            </a:r>
          </a:p>
          <a:p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sample_n_epoch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dirty="0"/>
              <a:t>number of epoch in PPO</a:t>
            </a:r>
          </a:p>
          <a:p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a_std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dirty="0"/>
              <a:t>std. dev. of action distribution</a:t>
            </a:r>
          </a:p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lamb: </a:t>
            </a:r>
            <a:r>
              <a:rPr lang="en-US" dirty="0" err="1"/>
              <a:t>gae</a:t>
            </a:r>
            <a:r>
              <a:rPr lang="en-US" dirty="0"/>
              <a:t> factor 𝜆</a:t>
            </a:r>
          </a:p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gamma: </a:t>
            </a:r>
            <a:r>
              <a:rPr lang="en-US" dirty="0"/>
              <a:t>discount factor 𝛾</a:t>
            </a:r>
          </a:p>
          <a:p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clip_val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dirty="0"/>
              <a:t>clip value 𝜖</a:t>
            </a:r>
          </a:p>
          <a:p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lr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dirty="0"/>
              <a:t>learning rate</a:t>
            </a:r>
          </a:p>
          <a:p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n_iter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dirty="0"/>
              <a:t>number of iteration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FDC7A-1916-CE02-70F5-AA6EFA5831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629F2F-32F4-E440-0964-4677A4C2E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659" y="1923069"/>
            <a:ext cx="4120431" cy="3142541"/>
          </a:xfrm>
          <a:prstGeom prst="rect">
            <a:avLst/>
          </a:prstGeom>
        </p:spPr>
      </p:pic>
      <p:sp>
        <p:nvSpPr>
          <p:cNvPr id="7" name="矩形 5">
            <a:extLst>
              <a:ext uri="{FF2B5EF4-FFF2-40B4-BE49-F238E27FC236}">
                <a16:creationId xmlns:a16="http://schemas.microsoft.com/office/drawing/2014/main" id="{F2CFED95-7993-5CED-B7B2-B7728148E8B4}"/>
              </a:ext>
            </a:extLst>
          </p:cNvPr>
          <p:cNvSpPr/>
          <p:nvPr/>
        </p:nvSpPr>
        <p:spPr>
          <a:xfrm>
            <a:off x="1422659" y="5205953"/>
            <a:ext cx="4384252" cy="1423448"/>
          </a:xfrm>
          <a:prstGeom prst="rect">
            <a:avLst/>
          </a:prstGeom>
          <a:solidFill>
            <a:srgbClr val="FBED85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TW" b="1" dirty="0"/>
              <a:t>Note:</a:t>
            </a:r>
          </a:p>
          <a:p>
            <a:r>
              <a:rPr lang="en-US" altLang="zh-TW" dirty="0">
                <a:solidFill>
                  <a:schemeClr val="tx1"/>
                </a:solidFill>
                <a:latin typeface="Century Gothic (本文)"/>
              </a:rPr>
              <a:t>Too many environments may cause </a:t>
            </a:r>
            <a:r>
              <a:rPr lang="en-US" altLang="zh-TW" i="1" dirty="0">
                <a:solidFill>
                  <a:schemeClr val="tx1"/>
                </a:solidFill>
                <a:latin typeface="Century Gothic (本文)"/>
              </a:rPr>
              <a:t>"</a:t>
            </a:r>
            <a:r>
              <a:rPr lang="en-US" altLang="zh-TW" i="1" dirty="0" err="1">
                <a:solidFill>
                  <a:schemeClr val="tx1"/>
                </a:solidFill>
                <a:latin typeface="Century Gothic (本文)"/>
              </a:rPr>
              <a:t>OSError</a:t>
            </a:r>
            <a:r>
              <a:rPr lang="en-US" altLang="zh-TW" i="1" dirty="0">
                <a:solidFill>
                  <a:schemeClr val="tx1"/>
                </a:solidFill>
                <a:latin typeface="Century Gothic (本文)"/>
              </a:rPr>
              <a:t>: </a:t>
            </a:r>
            <a:r>
              <a:rPr lang="en-US" altLang="zh-TW" b="0" i="1" dirty="0">
                <a:solidFill>
                  <a:schemeClr val="tx1"/>
                </a:solidFill>
                <a:effectLst/>
                <a:latin typeface="Century Gothic (本文)"/>
              </a:rPr>
              <a:t>The paging file is too small for this operation to complete"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Century Gothic (本文)"/>
              </a:rPr>
              <a:t>. If so, please set a smaller </a:t>
            </a:r>
            <a:r>
              <a:rPr lang="en-US" altLang="zh-TW" b="1" i="0" dirty="0" err="1">
                <a:solidFill>
                  <a:schemeClr val="tx1"/>
                </a:solidFill>
                <a:effectLst/>
                <a:latin typeface="Century Gothic (本文)"/>
              </a:rPr>
              <a:t>n_env</a:t>
            </a:r>
            <a:r>
              <a:rPr lang="en-US" altLang="zh-TW" dirty="0">
                <a:solidFill>
                  <a:schemeClr val="tx1"/>
                </a:solidFill>
                <a:latin typeface="Century Gothic (本文)"/>
              </a:rPr>
              <a:t>.</a:t>
            </a:r>
            <a:endParaRPr lang="en-US" altLang="zh-TW" b="0" i="0" dirty="0">
              <a:solidFill>
                <a:schemeClr val="tx1"/>
              </a:solidFill>
              <a:effectLst/>
              <a:latin typeface="Century Gothic (本文)"/>
            </a:endParaRPr>
          </a:p>
        </p:txBody>
      </p:sp>
    </p:spTree>
    <p:extLst>
      <p:ext uri="{BB962C8B-B14F-4D97-AF65-F5344CB8AC3E}">
        <p14:creationId xmlns:p14="http://schemas.microsoft.com/office/powerpoint/2010/main" val="739922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D3FB-BC7F-329B-4C5D-055AD836F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Shell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EAC22-A7D7-B491-399C-82E886CE8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3838" indent="-223838">
              <a:tabLst>
                <a:tab pos="2974975" algn="l"/>
              </a:tabLst>
            </a:pPr>
            <a:r>
              <a:rPr lang="en-TW" b="1" dirty="0"/>
              <a:t>Training: 	</a:t>
            </a:r>
            <a:r>
              <a:rPr lang="en-TW" dirty="0">
                <a:latin typeface="Consolas" panose="020B0609020204030204" pitchFamily="49" charset="0"/>
                <a:cs typeface="Consolas" panose="020B0609020204030204" pitchFamily="49" charset="0"/>
              </a:rPr>
              <a:t>python train.py</a:t>
            </a:r>
          </a:p>
          <a:p>
            <a:pPr marL="223838" indent="-223838">
              <a:tabLst>
                <a:tab pos="2974975" algn="l"/>
              </a:tabLst>
            </a:pPr>
            <a:r>
              <a:rPr lang="en-TW" b="1" dirty="0"/>
              <a:t>Inferencing: 	</a:t>
            </a:r>
            <a:r>
              <a:rPr lang="en-TW" dirty="0">
                <a:latin typeface="Consolas" panose="020B0609020204030204" pitchFamily="49" charset="0"/>
                <a:cs typeface="Consolas" panose="020B0609020204030204" pitchFamily="49" charset="0"/>
              </a:rPr>
              <a:t>python play.py</a:t>
            </a:r>
            <a:endParaRPr lang="en-TW" b="1" dirty="0"/>
          </a:p>
          <a:p>
            <a:pPr marL="223838" indent="-223838">
              <a:tabLst>
                <a:tab pos="2974975" algn="l"/>
              </a:tabLst>
            </a:pPr>
            <a:r>
              <a:rPr lang="en-TW" b="1" dirty="0"/>
              <a:t>Evaluation: 	</a:t>
            </a:r>
            <a:r>
              <a:rPr lang="en-TW" dirty="0">
                <a:latin typeface="Consolas" panose="020B0609020204030204" pitchFamily="49" charset="0"/>
                <a:cs typeface="Consolas" panose="020B0609020204030204" pitchFamily="49" charset="0"/>
              </a:rPr>
              <a:t>python eval.py</a:t>
            </a:r>
          </a:p>
          <a:p>
            <a:pPr marL="223838" indent="-223838">
              <a:tabLst>
                <a:tab pos="2974975" algn="l"/>
              </a:tabLst>
            </a:pPr>
            <a:r>
              <a:rPr lang="en-TW" b="1" dirty="0"/>
              <a:t>Training Visualization:  </a:t>
            </a:r>
            <a:r>
              <a:rPr lang="en-TW" dirty="0">
                <a:latin typeface="Consolas" panose="020B0609020204030204" pitchFamily="49" charset="0"/>
                <a:cs typeface="Consolas" panose="020B0609020204030204" pitchFamily="49" charset="0"/>
              </a:rPr>
              <a:t>python plot.py</a:t>
            </a:r>
            <a:endParaRPr lang="en-TW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461B0-32BE-A74C-2EE6-6F3D6DE46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451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E732F442-A725-F83F-0430-86CDBBDB0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11" y="2323506"/>
            <a:ext cx="5466666" cy="4067743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F09399A-738E-4D03-9EFF-BC4DC4EAA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8289653-EFBC-489D-9E6A-22C43E16DC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F5518E3-88B4-F1EC-173E-D7690DC6D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4199" y="4244576"/>
            <a:ext cx="4896533" cy="207674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1FAE8101-FF10-5CAC-7B5F-E9E09D907E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4531" y="922455"/>
            <a:ext cx="2589090" cy="2974371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1EEE3A7C-15BC-87E6-0D49-F60705EF7126}"/>
              </a:ext>
            </a:extLst>
          </p:cNvPr>
          <p:cNvSpPr txBox="1"/>
          <p:nvPr/>
        </p:nvSpPr>
        <p:spPr>
          <a:xfrm>
            <a:off x="3133817" y="1954175"/>
            <a:ext cx="107419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altLang="zh-TW" dirty="0"/>
              <a:t>plot.py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4100D9C4-6877-F055-D208-EAD3A86C2D71}"/>
              </a:ext>
            </a:extLst>
          </p:cNvPr>
          <p:cNvSpPr txBox="1"/>
          <p:nvPr/>
        </p:nvSpPr>
        <p:spPr>
          <a:xfrm>
            <a:off x="7378823" y="797034"/>
            <a:ext cx="107419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altLang="zh-TW" dirty="0"/>
              <a:t>play.py</a:t>
            </a:r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9C904DD9-BDF6-EC20-D793-33A227F8D63D}"/>
              </a:ext>
            </a:extLst>
          </p:cNvPr>
          <p:cNvSpPr txBox="1"/>
          <p:nvPr/>
        </p:nvSpPr>
        <p:spPr>
          <a:xfrm>
            <a:off x="6324661" y="3785424"/>
            <a:ext cx="1074198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altLang="zh-TW" dirty="0"/>
              <a:t>eval.py</a:t>
            </a:r>
            <a:endParaRPr lang="zh-TW" altLang="en-US" dirty="0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449D7C96-9315-FC08-3E87-AD69190F621D}"/>
              </a:ext>
            </a:extLst>
          </p:cNvPr>
          <p:cNvSpPr/>
          <p:nvPr/>
        </p:nvSpPr>
        <p:spPr>
          <a:xfrm>
            <a:off x="6431192" y="6036816"/>
            <a:ext cx="3280979" cy="30808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65527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BD72B-2F95-F1CA-DF86-9E167AF6C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Setup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5F7C9-F628-0EB7-B63C-651D97898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W" dirty="0"/>
              <a:t>Python version: 3.6+</a:t>
            </a:r>
          </a:p>
          <a:p>
            <a:r>
              <a:rPr lang="en-TW" dirty="0"/>
              <a:t>Install the following python packages with your package manager of choice</a:t>
            </a:r>
          </a:p>
          <a:p>
            <a:pPr lvl="1"/>
            <a:r>
              <a:rPr lang="en-TW" dirty="0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numpy&gt;=1.20,&lt;2.0</a:t>
            </a:r>
          </a:p>
          <a:p>
            <a:pPr lvl="1"/>
            <a:r>
              <a:rPr lang="en-TW" dirty="0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matplotlib</a:t>
            </a:r>
          </a:p>
          <a:p>
            <a:pPr lvl="1"/>
            <a:r>
              <a:rPr lang="en-TW" dirty="0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opencv-python</a:t>
            </a:r>
          </a:p>
          <a:p>
            <a:pPr lvl="1"/>
            <a:r>
              <a:rPr lang="en-TW" dirty="0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torch</a:t>
            </a:r>
          </a:p>
          <a:p>
            <a:pPr lvl="1"/>
            <a:r>
              <a:rPr lang="en-TW" dirty="0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cloudpickle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3169C-F096-2F91-03C1-62D113DD5F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93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3266D52-7E8C-5797-7A60-5D676114A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HW3-2: Proly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6C06AE-4CA9-6B7C-38E7-512D686BAE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0B3BD-9F67-157A-245E-99D12D0F77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117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74613-096D-9C5F-BA17-CB7A8525A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Proly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629B0-0B50-D24E-B4D6-F3DFBC7729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W" dirty="0"/>
              <a:t>Flag capturing 2.5D game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3D079-ECD5-E4A7-8D1B-408C9B3152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5" name="2026-02-22_17-42-37">
            <a:hlinkClick r:id="" action="ppaction://media"/>
            <a:extLst>
              <a:ext uri="{FF2B5EF4-FFF2-40B4-BE49-F238E27FC236}">
                <a16:creationId xmlns:a16="http://schemas.microsoft.com/office/drawing/2014/main" id="{6CBBFEAC-0878-8B41-E026-B8CF94FF47D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548581" y="2401207"/>
            <a:ext cx="7094837" cy="3991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073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1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B0563-653E-DD7E-E11F-52F4656A1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57F97-EC1D-59F0-9428-24C8CEE1F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W" dirty="0"/>
              <a:t>Design reward function to train an RL agent to play Proly</a:t>
            </a:r>
          </a:p>
          <a:p>
            <a:r>
              <a:rPr lang="en-TW" dirty="0"/>
              <a:t>We provide 3 public map and 2 private map for grading, 10% each</a:t>
            </a:r>
          </a:p>
          <a:p>
            <a:endParaRPr lang="en-T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8AC7B-F871-EC1C-191E-98D49FFF41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0F4A5C-7D51-56D2-ECFD-7D3675ADE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425" y="3111500"/>
            <a:ext cx="2794000" cy="2908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EE26A6-E978-28D2-2146-B45685A8B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358" y="3100570"/>
            <a:ext cx="2794000" cy="2921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1A82AF-2348-907B-84A4-C5B431BE68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5291" y="3100570"/>
            <a:ext cx="2794000" cy="2921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C596FFC-CCEB-6E3F-5656-AD58607D10F6}"/>
              </a:ext>
            </a:extLst>
          </p:cNvPr>
          <p:cNvSpPr txBox="1"/>
          <p:nvPr/>
        </p:nvSpPr>
        <p:spPr>
          <a:xfrm>
            <a:off x="2516614" y="6172200"/>
            <a:ext cx="907621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pPr algn="l"/>
            <a:r>
              <a:rPr lang="en-TW" dirty="0"/>
              <a:t>map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C59110-4F97-CBA5-870B-69D3C13A472E}"/>
              </a:ext>
            </a:extLst>
          </p:cNvPr>
          <p:cNvSpPr txBox="1"/>
          <p:nvPr/>
        </p:nvSpPr>
        <p:spPr>
          <a:xfrm>
            <a:off x="5637547" y="6172200"/>
            <a:ext cx="907621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pPr algn="l"/>
            <a:r>
              <a:rPr lang="en-TW" dirty="0"/>
              <a:t>map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CAB6B2-7B16-C56B-F803-8BF1549F5D44}"/>
              </a:ext>
            </a:extLst>
          </p:cNvPr>
          <p:cNvSpPr txBox="1"/>
          <p:nvPr/>
        </p:nvSpPr>
        <p:spPr>
          <a:xfrm>
            <a:off x="8758480" y="6136650"/>
            <a:ext cx="907621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pPr algn="l"/>
            <a:r>
              <a:rPr lang="en-TW" dirty="0"/>
              <a:t>map 3</a:t>
            </a:r>
          </a:p>
        </p:txBody>
      </p:sp>
    </p:spTree>
    <p:extLst>
      <p:ext uri="{BB962C8B-B14F-4D97-AF65-F5344CB8AC3E}">
        <p14:creationId xmlns:p14="http://schemas.microsoft.com/office/powerpoint/2010/main" val="3955190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5B666F1-6316-7963-4F90-B1BA58419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Repo Structure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F56468-7939-E649-A4AE-23AC3BA8B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Times Roman"/>
              <a:buChar char="–"/>
            </a:pPr>
            <a:r>
              <a:rPr lang="en-TW" b="1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HW3-2/</a:t>
            </a:r>
          </a:p>
          <a:p>
            <a:pPr lvl="1"/>
            <a:r>
              <a:rPr lang="en-TW" b="1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models/*/</a:t>
            </a:r>
            <a:r>
              <a:rPr lang="en-TW" b="1" dirty="0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*.zip</a:t>
            </a:r>
          </a:p>
          <a:p>
            <a:pPr lvl="2"/>
            <a:r>
              <a:rPr lang="en-TW" dirty="0"/>
              <a:t>Model checkpoints</a:t>
            </a:r>
          </a:p>
          <a:p>
            <a:pPr lvl="1"/>
            <a:r>
              <a:rPr lang="en-TW" b="1" dirty="0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model.zip</a:t>
            </a:r>
          </a:p>
          <a:p>
            <a:pPr lvl="2"/>
            <a:r>
              <a:rPr lang="en-TW" dirty="0"/>
              <a:t>Latest model checkpoint</a:t>
            </a:r>
          </a:p>
          <a:p>
            <a:pPr lvl="1"/>
            <a:r>
              <a:rPr lang="en-TW" b="1" dirty="0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rl_play.py</a:t>
            </a:r>
            <a:r>
              <a:rPr lang="en-TW" b="1" dirty="0">
                <a:solidFill>
                  <a:srgbClr val="FF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(TODO)</a:t>
            </a:r>
          </a:p>
          <a:p>
            <a:pPr lvl="2"/>
            <a:r>
              <a:rPr lang="en-TW" dirty="0"/>
              <a:t>Contains MLPlay class to train model with PPO</a:t>
            </a:r>
          </a:p>
          <a:p>
            <a:pPr lvl="1"/>
            <a:r>
              <a:rPr lang="en-TW" b="1" dirty="0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model_play.py</a:t>
            </a:r>
          </a:p>
          <a:p>
            <a:pPr lvl="2"/>
            <a:r>
              <a:rPr lang="en-TW" dirty="0"/>
              <a:t>Contains MLPlay class to play Proly with trained model stored at </a:t>
            </a:r>
            <a:r>
              <a:rPr lang="en-TW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model.zip</a:t>
            </a:r>
          </a:p>
          <a:p>
            <a:pPr lvl="1"/>
            <a:r>
              <a:rPr lang="en-TW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kb_play.py</a:t>
            </a:r>
          </a:p>
          <a:p>
            <a:pPr lvl="2"/>
            <a:r>
              <a:rPr lang="en-TW" dirty="0">
                <a:ea typeface="Menlo" panose="020B0609030804020204" pitchFamily="49" charset="0"/>
                <a:cs typeface="Menlo" panose="020B0609030804020204" pitchFamily="49" charset="0"/>
              </a:rPr>
              <a:t>Contains MLPlay class to play Proly with keyboard, useful for debugging</a:t>
            </a:r>
          </a:p>
          <a:p>
            <a:pPr lvl="1"/>
            <a:r>
              <a:rPr lang="en-TW" b="1" dirty="0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dummy_env.py</a:t>
            </a:r>
          </a:p>
          <a:p>
            <a:pPr lvl="2"/>
            <a:r>
              <a:rPr lang="en-TW" dirty="0"/>
              <a:t>A dummy class used to initialize StableBaselines’ PPO policy </a:t>
            </a:r>
            <a:r>
              <a:rPr lang="en-TW" b="1" dirty="0"/>
              <a:t>(DO NOT MODIFY)</a:t>
            </a:r>
          </a:p>
          <a:p>
            <a:pPr lvl="1"/>
            <a:r>
              <a:rPr lang="en-TW" b="1" dirty="0"/>
              <a:t>Proly.app/.exe/.x86_06 (depends on OS)</a:t>
            </a:r>
          </a:p>
          <a:p>
            <a:pPr marL="279092" lvl="1" indent="0">
              <a:buNone/>
            </a:pPr>
            <a:endParaRPr lang="en-TW" b="1" dirty="0"/>
          </a:p>
          <a:p>
            <a:pPr marL="279092" lvl="1" indent="0">
              <a:buNone/>
            </a:pPr>
            <a:r>
              <a:rPr lang="en-TW" dirty="0">
                <a:solidFill>
                  <a:srgbClr val="FF0000"/>
                </a:solidFill>
              </a:rPr>
              <a:t>Submit </a:t>
            </a:r>
            <a:r>
              <a:rPr lang="en-TW" dirty="0">
                <a:solidFill>
                  <a:srgbClr val="FF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model.zip</a:t>
            </a:r>
            <a:r>
              <a:rPr lang="en-TW" dirty="0">
                <a:solidFill>
                  <a:srgbClr val="FF0000"/>
                </a:solidFill>
                <a:ea typeface="Menlo" panose="020B0609030804020204" pitchFamily="49" charset="0"/>
                <a:cs typeface="Menlo" panose="020B0609030804020204" pitchFamily="49" charset="0"/>
              </a:rPr>
              <a:t>, </a:t>
            </a:r>
            <a:r>
              <a:rPr lang="en-TW" dirty="0">
                <a:solidFill>
                  <a:srgbClr val="FF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rl_play.py </a:t>
            </a:r>
            <a:r>
              <a:rPr lang="en-TW" dirty="0">
                <a:solidFill>
                  <a:srgbClr val="FF0000"/>
                </a:solidFill>
              </a:rPr>
              <a:t>and </a:t>
            </a:r>
            <a:r>
              <a:rPr lang="en-TW" dirty="0">
                <a:solidFill>
                  <a:srgbClr val="FF0000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model_play.py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2FCB6-51CF-5288-B9FB-14D9E91499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277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B5694-10C6-9359-491C-402D9CACC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MLGame3D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A146D-251C-CE98-B9D1-4A2852BFF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811" y="1828801"/>
            <a:ext cx="9603701" cy="24938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 bridge between the Unity game and RL algorithm</a:t>
            </a:r>
            <a:endParaRPr lang="en-T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95BFB-8B02-1C61-4A40-E928AFD146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3F4917-1581-7063-3CC0-58EEDEFC8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768" y="2078183"/>
            <a:ext cx="5425786" cy="4437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874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0AC0-68FE-F39F-7287-091F62C34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>
                <a:solidFill>
                  <a:srgbClr val="FF0000"/>
                </a:solidFill>
              </a:rPr>
              <a:t>(rl_play.py) </a:t>
            </a:r>
            <a:r>
              <a:rPr lang="en-TW" dirty="0"/>
              <a:t>Walkthrough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D5FE8-6361-102B-13A9-173759803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TW" b="1" dirty="0">
                <a:latin typeface="Consolas" panose="020B0609020204030204" pitchFamily="49" charset="0"/>
                <a:cs typeface="Consolas" panose="020B0609020204030204" pitchFamily="49" charset="0"/>
              </a:rPr>
              <a:t>MLPlay</a:t>
            </a:r>
          </a:p>
          <a:p>
            <a:pPr lvl="1"/>
            <a:r>
              <a:rPr lang="en-TW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__init__</a:t>
            </a:r>
            <a:r>
              <a:rPr lang="en-TW" b="1" dirty="0">
                <a:latin typeface="Consolas" panose="020B0609020204030204" pitchFamily="49" charset="0"/>
                <a:cs typeface="Consolas" panose="020B0609020204030204" pitchFamily="49" charset="0"/>
              </a:rPr>
              <a:t>(self, observation_structure, action_space_info, …)</a:t>
            </a:r>
          </a:p>
          <a:p>
            <a:pPr lvl="2"/>
            <a:r>
              <a:rPr lang="en-TW" dirty="0">
                <a:cs typeface="Consolas" panose="020B0609020204030204" pitchFamily="49" charset="0"/>
              </a:rPr>
              <a:t>Initialize hyperparameters in </a:t>
            </a:r>
            <a:r>
              <a:rPr lang="en-TW" i="1" dirty="0"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TW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TW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config</a:t>
            </a:r>
          </a:p>
          <a:p>
            <a:pPr lvl="2"/>
            <a:r>
              <a:rPr lang="en-TW" dirty="0">
                <a:cs typeface="Consolas" panose="020B0609020204030204" pitchFamily="49" charset="0"/>
              </a:rPr>
              <a:t>Initialize PPO policy model via </a:t>
            </a:r>
            <a:r>
              <a:rPr lang="en-TW" i="1" dirty="0"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TW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TW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_initialize_model</a:t>
            </a:r>
          </a:p>
          <a:p>
            <a:pPr lvl="1">
              <a:lnSpc>
                <a:spcPct val="120000"/>
              </a:lnSpc>
            </a:pPr>
            <a:r>
              <a:rPr lang="en-TW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update</a:t>
            </a:r>
            <a:r>
              <a:rPr lang="en-TW" b="1" dirty="0">
                <a:latin typeface="Consolas" panose="020B0609020204030204" pitchFamily="49" charset="0"/>
                <a:cs typeface="Consolas" panose="020B0609020204030204" pitchFamily="49" charset="0"/>
              </a:rPr>
              <a:t>(self, observation, done, …) -&gt; action</a:t>
            </a:r>
          </a:p>
          <a:p>
            <a:pPr lvl="2"/>
            <a:r>
              <a:rPr lang="en-TW" sz="1400" dirty="0"/>
              <a:t>Called at each timestep, receives observation &amp; predicts action with policy via </a:t>
            </a:r>
            <a:r>
              <a:rPr lang="en-TW" sz="1400" i="1" dirty="0"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TW" sz="14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TW" sz="14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_predict_action</a:t>
            </a:r>
          </a:p>
          <a:p>
            <a:pPr lvl="2"/>
            <a:r>
              <a:rPr lang="en-TW" sz="1400" dirty="0"/>
              <a:t>Add (observation, action, reward, etc.) to rollout buffer via </a:t>
            </a:r>
            <a:r>
              <a:rPr lang="en-TW" sz="1400" i="1" dirty="0"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TW" sz="14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TW" sz="14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_add_to_rollout_buffer</a:t>
            </a:r>
          </a:p>
          <a:p>
            <a:pPr lvl="1">
              <a:lnSpc>
                <a:spcPct val="120000"/>
              </a:lnSpc>
            </a:pPr>
            <a:r>
              <a:rPr lang="en-TW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reset</a:t>
            </a:r>
            <a:r>
              <a:rPr lang="en-TW" b="1" dirty="0">
                <a:latin typeface="Consolas" panose="020B0609020204030204" pitchFamily="49" charset="0"/>
                <a:cs typeface="Consolas" panose="020B0609020204030204" pitchFamily="49" charset="0"/>
              </a:rPr>
              <a:t>(self)</a:t>
            </a:r>
          </a:p>
          <a:p>
            <a:pPr lvl="2"/>
            <a:r>
              <a:rPr lang="en-TW" dirty="0"/>
              <a:t>Update policy with rollout datas via </a:t>
            </a:r>
            <a:r>
              <a:rPr lang="en-TW" i="1" dirty="0"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TW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TW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_update_policy</a:t>
            </a:r>
          </a:p>
          <a:p>
            <a:pPr lvl="2"/>
            <a:r>
              <a:rPr lang="en-TW" dirty="0"/>
              <a:t>Clear rollout buffer</a:t>
            </a:r>
          </a:p>
          <a:p>
            <a:pPr lvl="1">
              <a:lnSpc>
                <a:spcPct val="120000"/>
              </a:lnSpc>
            </a:pPr>
            <a:r>
              <a:rPr lang="en-TW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_initialize_model</a:t>
            </a:r>
            <a:r>
              <a:rPr lang="en-TW" b="1" dirty="0">
                <a:latin typeface="Consolas" panose="020B0609020204030204" pitchFamily="49" charset="0"/>
                <a:cs typeface="Consolas" panose="020B0609020204030204" pitchFamily="49" charset="0"/>
              </a:rPr>
              <a:t>(self)</a:t>
            </a:r>
          </a:p>
          <a:p>
            <a:pPr lvl="2"/>
            <a:r>
              <a:rPr lang="en-TW" dirty="0"/>
              <a:t>Load model if </a:t>
            </a:r>
            <a:r>
              <a:rPr lang="en-TW" dirty="0">
                <a:latin typeface="Consolas" panose="020B0609020204030204" pitchFamily="49" charset="0"/>
                <a:cs typeface="Consolas" panose="020B0609020204030204" pitchFamily="49" charset="0"/>
              </a:rPr>
              <a:t>model.zip </a:t>
            </a:r>
            <a:r>
              <a:rPr lang="en-TW" dirty="0"/>
              <a:t>exists, initialize otherwise</a:t>
            </a:r>
          </a:p>
          <a:p>
            <a:pPr lvl="1">
              <a:lnSpc>
                <a:spcPct val="120000"/>
              </a:lnSpc>
            </a:pPr>
            <a:r>
              <a:rPr lang="en-TW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_save_model</a:t>
            </a:r>
            <a:r>
              <a:rPr lang="en-TW" b="1" dirty="0">
                <a:latin typeface="Consolas" panose="020B0609020204030204" pitchFamily="49" charset="0"/>
                <a:cs typeface="Consolas" panose="020B0609020204030204" pitchFamily="49" charset="0"/>
              </a:rPr>
              <a:t>(self)</a:t>
            </a:r>
          </a:p>
          <a:p>
            <a:pPr lvl="2"/>
            <a:r>
              <a:rPr lang="en-TW" dirty="0"/>
              <a:t>Save current model checkpoint to </a:t>
            </a:r>
            <a:r>
              <a:rPr lang="en-TW" i="1" dirty="0"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TW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TW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model_save_dir</a:t>
            </a:r>
            <a:r>
              <a:rPr lang="en-TW" dirty="0">
                <a:solidFill>
                  <a:schemeClr val="accent2"/>
                </a:solidFill>
              </a:rPr>
              <a:t> </a:t>
            </a:r>
            <a:r>
              <a:rPr lang="en-TW" dirty="0"/>
              <a:t>and </a:t>
            </a:r>
            <a:r>
              <a:rPr lang="en-TW" i="1" dirty="0"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TW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TW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model_path</a:t>
            </a:r>
          </a:p>
          <a:p>
            <a:pPr lvl="1">
              <a:lnSpc>
                <a:spcPct val="120000"/>
              </a:lnSpc>
            </a:pPr>
            <a:r>
              <a:rPr lang="en-TW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_predict_action</a:t>
            </a:r>
            <a:r>
              <a:rPr lang="en-TW" b="1" dirty="0">
                <a:latin typeface="Consolas" panose="020B0609020204030204" pitchFamily="49" charset="0"/>
                <a:cs typeface="Consolas" panose="020B0609020204030204" pitchFamily="49" charset="0"/>
              </a:rPr>
              <a:t>(self, obs)</a:t>
            </a:r>
          </a:p>
          <a:p>
            <a:pPr lvl="1">
              <a:lnSpc>
                <a:spcPct val="120000"/>
              </a:lnSpc>
            </a:pPr>
            <a:r>
              <a:rPr lang="en-TW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_add_to_rollout_buffer</a:t>
            </a:r>
            <a:r>
              <a:rPr lang="en-TW" b="1" dirty="0">
                <a:latin typeface="Consolas" panose="020B0609020204030204" pitchFamily="49" charset="0"/>
                <a:cs typeface="Consolas" panose="020B0609020204030204" pitchFamily="49" charset="0"/>
              </a:rPr>
              <a:t>(self, obs, action, reward, done, value, log_prob)</a:t>
            </a:r>
          </a:p>
          <a:p>
            <a:pPr lvl="1">
              <a:lnSpc>
                <a:spcPct val="120000"/>
              </a:lnSpc>
            </a:pPr>
            <a:r>
              <a:rPr lang="en-TW" b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_update_policy</a:t>
            </a:r>
            <a:r>
              <a:rPr lang="en-TW" b="1" dirty="0">
                <a:latin typeface="Consolas" panose="020B0609020204030204" pitchFamily="49" charset="0"/>
                <a:cs typeface="Consolas" panose="020B0609020204030204" pitchFamily="49" charset="0"/>
              </a:rPr>
              <a:t>(self)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C9C753-9543-D63C-4216-F6556D16F0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348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E5105-90DA-AF24-F3C2-5C3D09F0F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TODO 6 </a:t>
            </a:r>
            <a:r>
              <a:rPr lang="en-TW" dirty="0">
                <a:solidFill>
                  <a:srgbClr val="FF0000"/>
                </a:solidFill>
              </a:rPr>
              <a:t>(rl_play.py)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B31C5-B51F-BE74-78A0-87668EEB6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TW" b="1" dirty="0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RewardManager</a:t>
            </a:r>
          </a:p>
          <a:p>
            <a:pPr lvl="1"/>
            <a:r>
              <a:rPr lang="en-TW" b="1" dirty="0">
                <a:solidFill>
                  <a:schemeClr val="accent2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update</a:t>
            </a:r>
            <a:r>
              <a:rPr lang="en-TW" b="1" dirty="0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(self, observation)</a:t>
            </a:r>
          </a:p>
          <a:p>
            <a:pPr lvl="2"/>
            <a:r>
              <a:rPr lang="en-TW" dirty="0">
                <a:ea typeface="Menlo" panose="020B0609030804020204" pitchFamily="49" charset="0"/>
                <a:cs typeface="Consolas" panose="020B0609020204030204" pitchFamily="49" charset="0"/>
              </a:rPr>
              <a:t>Update reward manager with current observation &amp; cache previous observation in </a:t>
            </a:r>
            <a:r>
              <a:rPr lang="en-TW" i="1" dirty="0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self</a:t>
            </a:r>
            <a:r>
              <a:rPr lang="en-TW" dirty="0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.</a:t>
            </a:r>
            <a:r>
              <a:rPr lang="en-TW" b="1" dirty="0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prev_observation</a:t>
            </a:r>
            <a:r>
              <a:rPr lang="en-TW" dirty="0">
                <a:ea typeface="Menlo" panose="020B0609030804020204" pitchFamily="49" charset="0"/>
                <a:cs typeface="Consolas" panose="020B0609020204030204" pitchFamily="49" charset="0"/>
              </a:rPr>
              <a:t>. Called by </a:t>
            </a:r>
            <a:r>
              <a:rPr lang="en-TW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MLPlay</a:t>
            </a:r>
            <a:r>
              <a:rPr lang="en-TW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</a:t>
            </a:r>
            <a:r>
              <a:rPr lang="en-TW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update</a:t>
            </a:r>
            <a:endParaRPr lang="en-TW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lvl="1">
              <a:lnSpc>
                <a:spcPct val="100000"/>
              </a:lnSpc>
            </a:pPr>
            <a:r>
              <a:rPr lang="en-TW" b="1" dirty="0">
                <a:solidFill>
                  <a:schemeClr val="accent2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reset</a:t>
            </a:r>
            <a:r>
              <a:rPr lang="en-TW" b="1" dirty="0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(self)</a:t>
            </a:r>
          </a:p>
          <a:p>
            <a:pPr lvl="2"/>
            <a:r>
              <a:rPr lang="en-TW" dirty="0">
                <a:ea typeface="Menlo" panose="020B0609030804020204" pitchFamily="49" charset="0"/>
                <a:cs typeface="Consolas" panose="020B0609020204030204" pitchFamily="49" charset="0"/>
              </a:rPr>
              <a:t>Clean cached observations. Called by </a:t>
            </a:r>
            <a:r>
              <a:rPr lang="en-TW" b="1" dirty="0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MLPlay</a:t>
            </a:r>
            <a:r>
              <a:rPr lang="en-TW" dirty="0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.</a:t>
            </a:r>
            <a:r>
              <a:rPr lang="en-TW" dirty="0">
                <a:solidFill>
                  <a:schemeClr val="accent2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reset</a:t>
            </a:r>
          </a:p>
          <a:p>
            <a:pPr lvl="2"/>
            <a:endParaRPr lang="en-TW" dirty="0"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00000"/>
              </a:lnSpc>
            </a:pPr>
            <a:r>
              <a:rPr lang="en-TW" b="1" dirty="0">
                <a:solidFill>
                  <a:schemeClr val="accent2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calculate_reward</a:t>
            </a:r>
            <a:r>
              <a:rPr lang="en-TW" b="1" dirty="0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(self) -&gt; float  </a:t>
            </a:r>
            <a:r>
              <a:rPr lang="en-TW" b="1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# required</a:t>
            </a:r>
          </a:p>
          <a:p>
            <a:pPr lvl="2"/>
            <a:r>
              <a:rPr lang="en-TW" dirty="0">
                <a:ea typeface="Menlo" panose="020B0609030804020204" pitchFamily="49" charset="0"/>
                <a:cs typeface="Consolas" panose="020B0609020204030204" pitchFamily="49" charset="0"/>
              </a:rPr>
              <a:t>Calculates the total reward signal at each timestep. Called by </a:t>
            </a:r>
            <a:r>
              <a:rPr lang="en-TW" b="1" dirty="0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MLplay</a:t>
            </a:r>
            <a:r>
              <a:rPr lang="en-TW" dirty="0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.</a:t>
            </a:r>
            <a:r>
              <a:rPr lang="en-TW" dirty="0">
                <a:solidFill>
                  <a:schemeClr val="accent2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update</a:t>
            </a:r>
            <a:r>
              <a:rPr lang="en-TW" dirty="0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</a:t>
            </a:r>
            <a:r>
              <a:rPr lang="en-TW" dirty="0">
                <a:ea typeface="Menlo" panose="020B0609030804020204" pitchFamily="49" charset="0"/>
                <a:cs typeface="Consolas" panose="020B0609020204030204" pitchFamily="49" charset="0"/>
              </a:rPr>
              <a:t>after </a:t>
            </a:r>
            <a:r>
              <a:rPr lang="en-TW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RewardManager</a:t>
            </a:r>
            <a:r>
              <a:rPr lang="en-TW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.</a:t>
            </a:r>
            <a:r>
              <a:rPr lang="en-TW" dirty="0">
                <a:solidFill>
                  <a:schemeClr val="accent2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update</a:t>
            </a:r>
          </a:p>
          <a:p>
            <a:pPr lvl="1">
              <a:lnSpc>
                <a:spcPct val="170000"/>
              </a:lnSpc>
            </a:pPr>
            <a:r>
              <a:rPr lang="en-TW" b="1" dirty="0">
                <a:solidFill>
                  <a:schemeClr val="accent2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calculate_flag_capture_reward</a:t>
            </a:r>
            <a:r>
              <a:rPr lang="en-TW" b="1" dirty="0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(self) -&gt; float </a:t>
            </a:r>
            <a:r>
              <a:rPr lang="en-TW" b="1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# optional</a:t>
            </a:r>
          </a:p>
          <a:p>
            <a:pPr lvl="2">
              <a:lnSpc>
                <a:spcPct val="100000"/>
              </a:lnSpc>
            </a:pPr>
            <a:r>
              <a:rPr lang="en-US" b="1" dirty="0">
                <a:ea typeface="Menlo" panose="020B0609030804020204" pitchFamily="49" charset="0"/>
                <a:cs typeface="Consolas" panose="020B0609020204030204" pitchFamily="49" charset="0"/>
              </a:rPr>
              <a:t>Hint:</a:t>
            </a:r>
            <a:r>
              <a:rPr lang="en-US" dirty="0">
                <a:ea typeface="Menlo" panose="020B0609030804020204" pitchFamily="49" charset="0"/>
                <a:cs typeface="Consolas" panose="020B0609020204030204" pitchFamily="49" charset="0"/>
              </a:rPr>
              <a:t> When a new flag is captured, give a large reward to encourage the agent to move along the correct path.</a:t>
            </a:r>
            <a:endParaRPr lang="en-TW" b="1" dirty="0">
              <a:ea typeface="Menlo" panose="020B060903080402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70000"/>
              </a:lnSpc>
            </a:pPr>
            <a:r>
              <a:rPr lang="en-TW" b="1" dirty="0">
                <a:solidFill>
                  <a:schemeClr val="accent2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calculate_distance_reward</a:t>
            </a:r>
            <a:r>
              <a:rPr lang="en-TW" b="1" dirty="0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(self) -&gt; float </a:t>
            </a:r>
            <a:r>
              <a:rPr lang="en-TW" b="1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# optional</a:t>
            </a:r>
          </a:p>
          <a:p>
            <a:pPr lvl="2"/>
            <a:r>
              <a:rPr lang="en-US" b="1" dirty="0">
                <a:ea typeface="Menlo" panose="020B0609030804020204" pitchFamily="49" charset="0"/>
                <a:cs typeface="Consolas" panose="020B0609020204030204" pitchFamily="49" charset="0"/>
              </a:rPr>
              <a:t>Hint: </a:t>
            </a:r>
            <a:r>
              <a:rPr lang="en-US" dirty="0">
                <a:ea typeface="Menlo" panose="020B0609030804020204" pitchFamily="49" charset="0"/>
                <a:cs typeface="Consolas" panose="020B0609020204030204" pitchFamily="49" charset="0"/>
              </a:rPr>
              <a:t>Guide the agent to constantly move closer to the target point.</a:t>
            </a:r>
            <a:endParaRPr lang="en-TW" dirty="0">
              <a:ea typeface="Menlo" panose="020B060903080402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70000"/>
              </a:lnSpc>
            </a:pPr>
            <a:r>
              <a:rPr lang="en-TW" b="1" dirty="0">
                <a:solidFill>
                  <a:schemeClr val="accent2"/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calculate_survival_reward</a:t>
            </a:r>
            <a:r>
              <a:rPr lang="en-TW" b="1" dirty="0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(self) -&gt; float </a:t>
            </a:r>
            <a:r>
              <a:rPr lang="en-TW" b="1" i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# optional</a:t>
            </a:r>
          </a:p>
          <a:p>
            <a:pPr lvl="2"/>
            <a:r>
              <a:rPr lang="en-US" b="1" dirty="0">
                <a:ea typeface="Menlo" panose="020B0609030804020204" pitchFamily="49" charset="0"/>
                <a:cs typeface="Consolas" panose="020B0609020204030204" pitchFamily="49" charset="0"/>
              </a:rPr>
              <a:t>Hint:</a:t>
            </a:r>
            <a:r>
              <a:rPr lang="en-US" dirty="0">
                <a:ea typeface="Menlo" panose="020B0609030804020204" pitchFamily="49" charset="0"/>
                <a:cs typeface="Consolas" panose="020B0609020204030204" pitchFamily="49" charset="0"/>
              </a:rPr>
              <a:t> Teach the agent the importance of survival - avoid jumping off the cliff</a:t>
            </a:r>
            <a:endParaRPr lang="en-TW" dirty="0">
              <a:ea typeface="Menlo" panose="020B060903080402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41D1E-5B26-8E3B-7EA3-CD8876A6E5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C4AAA5-B2FC-5494-9155-2F225088C48A}"/>
              </a:ext>
            </a:extLst>
          </p:cNvPr>
          <p:cNvSpPr/>
          <p:nvPr/>
        </p:nvSpPr>
        <p:spPr>
          <a:xfrm>
            <a:off x="1688653" y="3218021"/>
            <a:ext cx="9272015" cy="27219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TW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33A413-1060-38C3-4848-2A67B4FFC6D4}"/>
              </a:ext>
            </a:extLst>
          </p:cNvPr>
          <p:cNvSpPr txBox="1"/>
          <p:nvPr/>
        </p:nvSpPr>
        <p:spPr>
          <a:xfrm>
            <a:off x="9625934" y="2772489"/>
            <a:ext cx="1394934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pPr algn="l"/>
            <a:r>
              <a:rPr lang="en-TW" dirty="0">
                <a:solidFill>
                  <a:srgbClr val="FF0000"/>
                </a:solidFill>
              </a:rPr>
              <a:t>Implement</a:t>
            </a:r>
          </a:p>
        </p:txBody>
      </p:sp>
    </p:spTree>
    <p:extLst>
      <p:ext uri="{BB962C8B-B14F-4D97-AF65-F5344CB8AC3E}">
        <p14:creationId xmlns:p14="http://schemas.microsoft.com/office/powerpoint/2010/main" val="138839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5FA97-E17A-56BF-5DA6-5E14D6919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>
                <a:solidFill>
                  <a:srgbClr val="FF0000"/>
                </a:solidFill>
              </a:rPr>
              <a:t>(model_play.py)</a:t>
            </a:r>
            <a:r>
              <a:rPr lang="en-TW" dirty="0"/>
              <a:t> Walkthrough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6E27FE-59EB-073C-96AE-65A465972D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6756" y="1854817"/>
            <a:ext cx="6258488" cy="446649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19D72-12A7-2C65-E1D9-F331AB2339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31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6DB15F4-D249-37A6-34C4-AB7B9B097DCC}"/>
              </a:ext>
            </a:extLst>
          </p:cNvPr>
          <p:cNvGrpSpPr/>
          <p:nvPr/>
        </p:nvGrpSpPr>
        <p:grpSpPr>
          <a:xfrm>
            <a:off x="3438144" y="2478024"/>
            <a:ext cx="5509047" cy="1353312"/>
            <a:chOff x="3438144" y="2478024"/>
            <a:chExt cx="5509047" cy="135331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3DD3B57-5F6C-165E-B485-FFF8F985D167}"/>
                </a:ext>
              </a:extLst>
            </p:cNvPr>
            <p:cNvSpPr/>
            <p:nvPr/>
          </p:nvSpPr>
          <p:spPr>
            <a:xfrm>
              <a:off x="3438144" y="2478024"/>
              <a:ext cx="3941064" cy="1353312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TW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DA2895E-0DE9-3E82-E7A9-D4B7FCC13254}"/>
                </a:ext>
              </a:extLst>
            </p:cNvPr>
            <p:cNvSpPr txBox="1"/>
            <p:nvPr/>
          </p:nvSpPr>
          <p:spPr>
            <a:xfrm>
              <a:off x="7379208" y="2478024"/>
              <a:ext cx="1567983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1">
              <a:spAutoFit/>
            </a:bodyPr>
            <a:lstStyle/>
            <a:p>
              <a:pPr algn="l"/>
              <a:r>
                <a:rPr lang="en-TW" sz="1200" b="1" dirty="0">
                  <a:solidFill>
                    <a:srgbClr val="FF0000"/>
                  </a:solidFill>
                </a:rPr>
                <a:t>Load pre-trained weights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886CE84-C662-390E-9601-BA595B9F510C}"/>
              </a:ext>
            </a:extLst>
          </p:cNvPr>
          <p:cNvGrpSpPr/>
          <p:nvPr/>
        </p:nvGrpSpPr>
        <p:grpSpPr>
          <a:xfrm>
            <a:off x="3438144" y="5465887"/>
            <a:ext cx="5509046" cy="276999"/>
            <a:chOff x="3438144" y="5465887"/>
            <a:chExt cx="5509046" cy="27699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35815A3-BDF1-6036-FDDB-A6250CA86BAD}"/>
                </a:ext>
              </a:extLst>
            </p:cNvPr>
            <p:cNvSpPr/>
            <p:nvPr/>
          </p:nvSpPr>
          <p:spPr>
            <a:xfrm>
              <a:off x="3438144" y="5486400"/>
              <a:ext cx="3941064" cy="23597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TW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322D977-80B5-999F-C61E-FBC3B8D9CF64}"/>
                </a:ext>
              </a:extLst>
            </p:cNvPr>
            <p:cNvSpPr txBox="1"/>
            <p:nvPr/>
          </p:nvSpPr>
          <p:spPr>
            <a:xfrm>
              <a:off x="7379207" y="5465887"/>
              <a:ext cx="156798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1">
              <a:spAutoFit/>
            </a:bodyPr>
            <a:lstStyle/>
            <a:p>
              <a:pPr algn="l"/>
              <a:r>
                <a:rPr lang="en-TW" sz="1200" b="1" dirty="0">
                  <a:solidFill>
                    <a:srgbClr val="FF0000"/>
                  </a:solidFill>
                </a:rPr>
                <a:t>Model inference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7441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33722-0170-D655-0AB9-69A292834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Observation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C3F16-FAD6-AD05-570D-D00E76058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target_position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600" dirty="0">
                <a:cs typeface="Consolas" panose="020B0609020204030204" pitchFamily="49" charset="0"/>
              </a:rPr>
              <a:t>Relative position to the next checkpoint</a:t>
            </a:r>
          </a:p>
          <a:p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agent_health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600" dirty="0"/>
              <a:t>Current health of the agent</a:t>
            </a: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last_checkpoint_index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600" dirty="0"/>
              <a:t>Index of the last checkpoint passed</a:t>
            </a: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terrain_grid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600" dirty="0"/>
              <a:t>5x5 grid of terrain features around the agent</a:t>
            </a: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/>
              <a:t>Detailed specs: </a:t>
            </a:r>
            <a:r>
              <a:rPr lang="en-US" sz="1600" dirty="0">
                <a:hlinkClick r:id="rId3"/>
              </a:rPr>
              <a:t>https://github.com/PAIA-Playful-AI-Arena/Proly/#observation-space</a:t>
            </a:r>
            <a:endParaRPr lang="en-TW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06C06-323B-1004-62C5-A3F0A539D0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433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C4679-295D-AE55-08B2-24828211E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Action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F21AA-4270-56D9-C398-FB489AF0C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Continuous actions</a:t>
            </a:r>
            <a:r>
              <a:rPr lang="en-US" dirty="0"/>
              <a:t>: Acceleration (</a:t>
            </a:r>
            <a:r>
              <a:rPr lang="en-US" dirty="0" err="1"/>
              <a:t>A_x</a:t>
            </a:r>
            <a:r>
              <a:rPr lang="en-US" dirty="0"/>
              <a:t>, </a:t>
            </a:r>
            <a:r>
              <a:rPr lang="en-US" dirty="0" err="1"/>
              <a:t>A_y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Values range from -1.0 to 1.0 for each axis</a:t>
            </a:r>
          </a:p>
          <a:p>
            <a:pPr lvl="1"/>
            <a:r>
              <a:rPr lang="en-US" dirty="0"/>
              <a:t>Represents normalized movement direction</a:t>
            </a:r>
          </a:p>
          <a:p>
            <a:pPr lvl="1"/>
            <a:r>
              <a:rPr lang="en-US" dirty="0"/>
              <a:t>Controls acceleration rather than direct velocity</a:t>
            </a:r>
          </a:p>
          <a:p>
            <a:pPr marL="279092" lvl="1" indent="0">
              <a:buNone/>
            </a:pPr>
            <a:endParaRPr lang="en-US" dirty="0"/>
          </a:p>
          <a:p>
            <a:r>
              <a:rPr lang="en-US" b="1" dirty="0"/>
              <a:t>e.g.</a:t>
            </a:r>
          </a:p>
          <a:p>
            <a:pPr lvl="1"/>
            <a:r>
              <a:rPr lang="en-US" dirty="0"/>
              <a:t>(0, 1) moves up</a:t>
            </a:r>
          </a:p>
          <a:p>
            <a:pPr lvl="1"/>
            <a:r>
              <a:rPr lang="en-US" dirty="0"/>
              <a:t>(-1, 0) moves left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8895A-8D44-183C-F2C4-4486068321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88CC9E-A4DB-D2A8-B182-48EEE2C96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1984" y="4057105"/>
            <a:ext cx="5137205" cy="1962695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BB8A9F9-1088-BEB3-CFDE-9B2C6B12D1E5}"/>
              </a:ext>
            </a:extLst>
          </p:cNvPr>
          <p:cNvGrpSpPr/>
          <p:nvPr/>
        </p:nvGrpSpPr>
        <p:grpSpPr>
          <a:xfrm>
            <a:off x="8395306" y="1676400"/>
            <a:ext cx="1730472" cy="1813838"/>
            <a:chOff x="9165327" y="937682"/>
            <a:chExt cx="1730472" cy="1813838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C7820FB-C8FD-DA61-F223-D60AC2D2FD48}"/>
                </a:ext>
              </a:extLst>
            </p:cNvPr>
            <p:cNvGrpSpPr/>
            <p:nvPr/>
          </p:nvGrpSpPr>
          <p:grpSpPr>
            <a:xfrm>
              <a:off x="9484645" y="937682"/>
              <a:ext cx="1411154" cy="1444506"/>
              <a:chOff x="6227591" y="1938845"/>
              <a:chExt cx="606645" cy="620983"/>
            </a:xfrm>
          </p:grpSpPr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A936ACAC-808C-64E7-C5AA-1992DCEA3E8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27591" y="1938845"/>
                <a:ext cx="0" cy="620983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1A0498EE-B1BF-36F9-4371-EAA9701FD807}"/>
                  </a:ext>
                </a:extLst>
              </p:cNvPr>
              <p:cNvCxnSpPr/>
              <p:nvPr/>
            </p:nvCxnSpPr>
            <p:spPr>
              <a:xfrm>
                <a:off x="6227591" y="2559828"/>
                <a:ext cx="606645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59FD6BC-B4AE-3BB0-8DD8-701604C59C2D}"/>
                </a:ext>
              </a:extLst>
            </p:cNvPr>
            <p:cNvSpPr txBox="1"/>
            <p:nvPr/>
          </p:nvSpPr>
          <p:spPr>
            <a:xfrm>
              <a:off x="10032967" y="2382188"/>
              <a:ext cx="31451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pPr algn="l"/>
              <a:r>
                <a:rPr lang="en-TW" b="1" dirty="0">
                  <a:solidFill>
                    <a:srgbClr val="ED1A1F"/>
                  </a:solidFill>
                </a:rPr>
                <a:t>x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EE9A356-E472-9FB2-C46E-5766A73DB23F}"/>
                </a:ext>
              </a:extLst>
            </p:cNvPr>
            <p:cNvSpPr txBox="1"/>
            <p:nvPr/>
          </p:nvSpPr>
          <p:spPr>
            <a:xfrm>
              <a:off x="9165327" y="1491735"/>
              <a:ext cx="31931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pPr algn="l"/>
              <a:r>
                <a:rPr lang="en-TW" b="1" dirty="0">
                  <a:solidFill>
                    <a:srgbClr val="ED1A1F"/>
                  </a:solidFill>
                </a:rPr>
                <a:t>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7031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36738-8488-98F7-0E35-8054EB548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terrain_grid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0273E-05C2-A48D-E7E1-2AA46D187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812" y="1828800"/>
            <a:ext cx="4494866" cy="4191000"/>
          </a:xfrm>
        </p:spPr>
        <p:txBody>
          <a:bodyPr>
            <a:normAutofit/>
          </a:bodyPr>
          <a:lstStyle/>
          <a:p>
            <a:r>
              <a:rPr lang="en-US" sz="1400" dirty="0"/>
              <a:t>5x5 grid of terrain features around the agent</a:t>
            </a:r>
            <a:endParaRPr lang="en-TW" sz="14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TW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self.observation["terrain_grid"][i][j]:</a:t>
            </a:r>
          </a:p>
          <a:p>
            <a:pPr lvl="1"/>
            <a:r>
              <a:rPr lang="en-TW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relative_position:</a:t>
            </a:r>
          </a:p>
          <a:p>
            <a:pPr lvl="2"/>
            <a:r>
              <a:rPr lang="en-TW" sz="1400" dirty="0">
                <a:cs typeface="Consolas" panose="020B0609020204030204" pitchFamily="49" charset="0"/>
              </a:rPr>
              <a:t>Grid center's relative position to the player</a:t>
            </a:r>
          </a:p>
          <a:p>
            <a:pPr lvl="1"/>
            <a:r>
              <a:rPr lang="en-TW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terrain_type:</a:t>
            </a:r>
          </a:p>
          <a:p>
            <a:pPr marL="741363" lvl="2" indent="-171450">
              <a:tabLst>
                <a:tab pos="976313" algn="l"/>
              </a:tabLst>
            </a:pPr>
            <a:r>
              <a:rPr lang="en-TW" sz="1400" b="1" dirty="0"/>
              <a:t>0	:</a:t>
            </a:r>
            <a:r>
              <a:rPr lang="en-TW" sz="1400" dirty="0"/>
              <a:t>  normal</a:t>
            </a:r>
          </a:p>
          <a:p>
            <a:pPr marL="741363" lvl="2" indent="-171450">
              <a:tabLst>
                <a:tab pos="976313" algn="l"/>
              </a:tabLst>
            </a:pPr>
            <a:r>
              <a:rPr lang="en-TW" sz="1400" b="1" dirty="0"/>
              <a:t>-1	:</a:t>
            </a:r>
            <a:r>
              <a:rPr lang="en-TW" sz="1400" dirty="0"/>
              <a:t>  water</a:t>
            </a:r>
          </a:p>
          <a:p>
            <a:pPr marL="741363" lvl="2" indent="-171450">
              <a:tabLst>
                <a:tab pos="976313" algn="l"/>
              </a:tabLst>
            </a:pPr>
            <a:r>
              <a:rPr lang="en-TW" sz="1400" b="1" dirty="0"/>
              <a:t>1	:  </a:t>
            </a:r>
            <a:r>
              <a:rPr lang="en-TW" sz="1400" dirty="0"/>
              <a:t>obstacle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4B378-A662-AD39-92A4-D3C5F50A04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BE71CA46-8043-29EC-98BF-C388C5849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7677" y="1828800"/>
            <a:ext cx="5108835" cy="427742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868660A6-B1E7-FF3C-26A6-D8867EAF2155}"/>
              </a:ext>
            </a:extLst>
          </p:cNvPr>
          <p:cNvGrpSpPr/>
          <p:nvPr/>
        </p:nvGrpSpPr>
        <p:grpSpPr>
          <a:xfrm>
            <a:off x="6317058" y="2968042"/>
            <a:ext cx="4040432" cy="2905442"/>
            <a:chOff x="3988870" y="3183138"/>
            <a:chExt cx="4040432" cy="290544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D8869BD-10BC-13A0-9FDE-E5898E98216C}"/>
                </a:ext>
              </a:extLst>
            </p:cNvPr>
            <p:cNvGrpSpPr/>
            <p:nvPr/>
          </p:nvGrpSpPr>
          <p:grpSpPr>
            <a:xfrm>
              <a:off x="4418000" y="3202750"/>
              <a:ext cx="3611302" cy="2601954"/>
              <a:chOff x="4418000" y="3202750"/>
              <a:chExt cx="3611302" cy="2601954"/>
            </a:xfrm>
          </p:grpSpPr>
          <p:sp>
            <p:nvSpPr>
              <p:cNvPr id="14" name="Trapezoid 13">
                <a:extLst>
                  <a:ext uri="{FF2B5EF4-FFF2-40B4-BE49-F238E27FC236}">
                    <a16:creationId xmlns:a16="http://schemas.microsoft.com/office/drawing/2014/main" id="{787808A3-8608-F033-0F20-908A3EE2F44D}"/>
                  </a:ext>
                </a:extLst>
              </p:cNvPr>
              <p:cNvSpPr/>
              <p:nvPr/>
            </p:nvSpPr>
            <p:spPr>
              <a:xfrm>
                <a:off x="4418000" y="3202750"/>
                <a:ext cx="3611302" cy="2601954"/>
              </a:xfrm>
              <a:prstGeom prst="trapezoid">
                <a:avLst>
                  <a:gd name="adj" fmla="val 9891"/>
                </a:avLst>
              </a:prstGeom>
              <a:noFill/>
              <a:ln w="19050">
                <a:solidFill>
                  <a:srgbClr val="ED1A1F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TW" dirty="0">
                  <a:solidFill>
                    <a:srgbClr val="ED1A1F"/>
                  </a:solidFill>
                </a:endParaRPr>
              </a:p>
            </p:txBody>
          </p: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2229FB05-0D47-8D8A-B7B2-C8B9F3B7670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43033" y="3202750"/>
                <a:ext cx="208345" cy="2601953"/>
              </a:xfrm>
              <a:prstGeom prst="line">
                <a:avLst/>
              </a:prstGeom>
              <a:ln w="19050">
                <a:solidFill>
                  <a:srgbClr val="ED1A1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0AF393E-29E3-6F59-61EB-3BE9E95A93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15296" y="3202750"/>
                <a:ext cx="82296" cy="2601953"/>
              </a:xfrm>
              <a:prstGeom prst="line">
                <a:avLst/>
              </a:prstGeom>
              <a:ln w="19050">
                <a:solidFill>
                  <a:srgbClr val="ED1A1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08BC76C0-081C-4982-5D7E-1ED95D199D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84318" y="3202750"/>
                <a:ext cx="112275" cy="2601953"/>
              </a:xfrm>
              <a:prstGeom prst="line">
                <a:avLst/>
              </a:prstGeom>
              <a:ln w="19050">
                <a:solidFill>
                  <a:srgbClr val="ED1A1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020A09B8-D2DB-958C-303D-33AF0416FC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24861" y="3202750"/>
                <a:ext cx="173620" cy="2601953"/>
              </a:xfrm>
              <a:prstGeom prst="line">
                <a:avLst/>
              </a:prstGeom>
              <a:ln w="19050">
                <a:solidFill>
                  <a:srgbClr val="ED1A1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5FB6BBC3-3B68-09E2-C39F-895E486075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91968" y="4039564"/>
                <a:ext cx="3257926" cy="0"/>
              </a:xfrm>
              <a:prstGeom prst="line">
                <a:avLst/>
              </a:prstGeom>
              <a:ln w="19050">
                <a:solidFill>
                  <a:srgbClr val="ED1A1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BE165C60-C1F0-3727-F5BB-2C4E905F8D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43508" y="4651918"/>
                <a:ext cx="3394893" cy="0"/>
              </a:xfrm>
              <a:prstGeom prst="line">
                <a:avLst/>
              </a:prstGeom>
              <a:ln w="19050">
                <a:solidFill>
                  <a:srgbClr val="ED1A1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50F3C49B-CEDE-3C3E-2BF1-DE8D6E12EA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92443" y="5172266"/>
                <a:ext cx="3497021" cy="0"/>
              </a:xfrm>
              <a:prstGeom prst="line">
                <a:avLst/>
              </a:prstGeom>
              <a:ln w="19050">
                <a:solidFill>
                  <a:srgbClr val="ED1A1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A70A43CB-D51C-EFA5-7B81-B25D07B2D1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49956" y="3605514"/>
                <a:ext cx="3153639" cy="0"/>
              </a:xfrm>
              <a:prstGeom prst="line">
                <a:avLst/>
              </a:prstGeom>
              <a:ln w="19050">
                <a:solidFill>
                  <a:srgbClr val="ED1A1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249D240-0429-F748-35D3-3778DC6E640B}"/>
                </a:ext>
              </a:extLst>
            </p:cNvPr>
            <p:cNvSpPr txBox="1"/>
            <p:nvPr/>
          </p:nvSpPr>
          <p:spPr>
            <a:xfrm>
              <a:off x="3988870" y="5409528"/>
              <a:ext cx="43954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pPr algn="l"/>
              <a:r>
                <a:rPr lang="en-TW" sz="1200" b="1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j=0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EC5B924-FE00-93EB-FDB7-26C13B03662B}"/>
                </a:ext>
              </a:extLst>
            </p:cNvPr>
            <p:cNvSpPr txBox="1"/>
            <p:nvPr/>
          </p:nvSpPr>
          <p:spPr>
            <a:xfrm>
              <a:off x="4208642" y="3183138"/>
              <a:ext cx="43954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pPr algn="l"/>
              <a:r>
                <a:rPr lang="en-TW" sz="1200" b="1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j=4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01162D0-3F6F-7A9E-F422-F12B426F5D09}"/>
                </a:ext>
              </a:extLst>
            </p:cNvPr>
            <p:cNvSpPr txBox="1"/>
            <p:nvPr/>
          </p:nvSpPr>
          <p:spPr>
            <a:xfrm>
              <a:off x="4487719" y="5811581"/>
              <a:ext cx="43954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pPr algn="l"/>
              <a:r>
                <a:rPr lang="en-TW" sz="1200" b="1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i=0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30E1CBE-134D-8303-B76E-D06BB3A5475B}"/>
                </a:ext>
              </a:extLst>
            </p:cNvPr>
            <p:cNvSpPr txBox="1"/>
            <p:nvPr/>
          </p:nvSpPr>
          <p:spPr>
            <a:xfrm>
              <a:off x="7514099" y="5811580"/>
              <a:ext cx="43954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pPr algn="l"/>
              <a:r>
                <a:rPr lang="en-TW" sz="1200" b="1" dirty="0">
                  <a:solidFill>
                    <a:srgbClr val="ED1A1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i=4</a:t>
              </a:r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45EAFF02-CB99-FC69-92E5-16E612B5FFC0}"/>
              </a:ext>
            </a:extLst>
          </p:cNvPr>
          <p:cNvSpPr/>
          <p:nvPr/>
        </p:nvSpPr>
        <p:spPr>
          <a:xfrm>
            <a:off x="7212542" y="3137041"/>
            <a:ext cx="108000" cy="1080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TW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3020774-6AF4-467E-725E-8D328E16C66E}"/>
              </a:ext>
            </a:extLst>
          </p:cNvPr>
          <p:cNvGrpSpPr/>
          <p:nvPr/>
        </p:nvGrpSpPr>
        <p:grpSpPr>
          <a:xfrm>
            <a:off x="1589882" y="3229225"/>
            <a:ext cx="5638476" cy="2143443"/>
            <a:chOff x="1589882" y="3229225"/>
            <a:chExt cx="5638476" cy="2143443"/>
          </a:xfrm>
        </p:grpSpPr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3A1E91B5-2E91-D447-A1C2-CB4233140371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 flipH="1">
              <a:off x="5385236" y="3229225"/>
              <a:ext cx="1843122" cy="132951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59B1853-BAD5-5A4D-540D-3A9BEF0BBFFA}"/>
                </a:ext>
              </a:extLst>
            </p:cNvPr>
            <p:cNvSpPr txBox="1"/>
            <p:nvPr/>
          </p:nvSpPr>
          <p:spPr>
            <a:xfrm>
              <a:off x="1589882" y="4541671"/>
              <a:ext cx="383791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pPr algn="l"/>
              <a:r>
                <a:rPr lang="en-TW" sz="1200" dirty="0">
                  <a:solidFill>
                    <a:schemeClr val="accent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self.observation["terrain_grid"][0][4] = {</a:t>
              </a:r>
            </a:p>
            <a:p>
              <a:pPr algn="l">
                <a:tabLst>
                  <a:tab pos="349250" algn="l"/>
                </a:tabLst>
              </a:pPr>
              <a:r>
                <a:rPr lang="en-TW" sz="1200" dirty="0">
                  <a:solidFill>
                    <a:schemeClr val="accent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	"relative_position": (-2, 2),</a:t>
              </a:r>
            </a:p>
            <a:p>
              <a:pPr algn="l">
                <a:tabLst>
                  <a:tab pos="349250" algn="l"/>
                </a:tabLst>
              </a:pPr>
              <a:r>
                <a:rPr lang="en-TW" sz="1200" dirty="0">
                  <a:solidFill>
                    <a:schemeClr val="accent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	"terrain_type": -1</a:t>
              </a:r>
            </a:p>
            <a:p>
              <a:pPr algn="l"/>
              <a:r>
                <a:rPr lang="en-TW" sz="1200" dirty="0">
                  <a:solidFill>
                    <a:schemeClr val="accent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</a:p>
          </p:txBody>
        </p:sp>
      </p:grpSp>
      <p:sp>
        <p:nvSpPr>
          <p:cNvPr id="36" name="Oval 35">
            <a:extLst>
              <a:ext uri="{FF2B5EF4-FFF2-40B4-BE49-F238E27FC236}">
                <a16:creationId xmlns:a16="http://schemas.microsoft.com/office/drawing/2014/main" id="{974EC66E-44C1-3810-D2DD-485D64296D75}"/>
              </a:ext>
            </a:extLst>
          </p:cNvPr>
          <p:cNvSpPr/>
          <p:nvPr/>
        </p:nvSpPr>
        <p:spPr>
          <a:xfrm>
            <a:off x="8515143" y="3565706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TW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F9B7B60-4E40-B56E-FC02-77E0061F75DC}"/>
              </a:ext>
            </a:extLst>
          </p:cNvPr>
          <p:cNvGrpSpPr/>
          <p:nvPr/>
        </p:nvGrpSpPr>
        <p:grpSpPr>
          <a:xfrm>
            <a:off x="1588784" y="3657890"/>
            <a:ext cx="6942175" cy="2644538"/>
            <a:chOff x="1588784" y="3657890"/>
            <a:chExt cx="6942175" cy="2644538"/>
          </a:xfrm>
        </p:grpSpPr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90594942-86EC-D85F-294C-C048AD3FC640}"/>
                </a:ext>
              </a:extLst>
            </p:cNvPr>
            <p:cNvCxnSpPr>
              <a:cxnSpLocks/>
              <a:stCxn id="36" idx="3"/>
            </p:cNvCxnSpPr>
            <p:nvPr/>
          </p:nvCxnSpPr>
          <p:spPr>
            <a:xfrm flipH="1">
              <a:off x="5385235" y="3657890"/>
              <a:ext cx="3145724" cy="1910589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2A0E7D4-2442-5B43-4B66-1F5DF09AA383}"/>
                </a:ext>
              </a:extLst>
            </p:cNvPr>
            <p:cNvSpPr txBox="1"/>
            <p:nvPr/>
          </p:nvSpPr>
          <p:spPr>
            <a:xfrm>
              <a:off x="1588784" y="5471431"/>
              <a:ext cx="3837910" cy="8309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pPr algn="l"/>
              <a:r>
                <a:rPr lang="en-TW" sz="1200" dirty="0">
                  <a:solidFill>
                    <a:srgbClr val="C4885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self.observation["terrain_grid"][2][3] = {</a:t>
              </a:r>
            </a:p>
            <a:p>
              <a:pPr algn="l">
                <a:tabLst>
                  <a:tab pos="349250" algn="l"/>
                </a:tabLst>
              </a:pPr>
              <a:r>
                <a:rPr lang="en-TW" sz="1200" dirty="0">
                  <a:solidFill>
                    <a:srgbClr val="C4885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	"relative_position": (0, 1),</a:t>
              </a:r>
            </a:p>
            <a:p>
              <a:pPr algn="l">
                <a:tabLst>
                  <a:tab pos="349250" algn="l"/>
                </a:tabLst>
              </a:pPr>
              <a:r>
                <a:rPr lang="en-TW" sz="1200" dirty="0">
                  <a:solidFill>
                    <a:srgbClr val="C4885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	"terrain_type": 1</a:t>
              </a:r>
            </a:p>
            <a:p>
              <a:pPr algn="l"/>
              <a:r>
                <a:rPr lang="en-TW" sz="1200" dirty="0">
                  <a:solidFill>
                    <a:srgbClr val="C4885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5FCBC06-FF3D-FCF7-B906-E35723090D86}"/>
              </a:ext>
            </a:extLst>
          </p:cNvPr>
          <p:cNvGrpSpPr/>
          <p:nvPr/>
        </p:nvGrpSpPr>
        <p:grpSpPr>
          <a:xfrm>
            <a:off x="6037699" y="1972081"/>
            <a:ext cx="882457" cy="852680"/>
            <a:chOff x="6115315" y="2033129"/>
            <a:chExt cx="882457" cy="85268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E3EA1AA-3FCB-8568-194E-E447F01DA827}"/>
                </a:ext>
              </a:extLst>
            </p:cNvPr>
            <p:cNvGrpSpPr/>
            <p:nvPr/>
          </p:nvGrpSpPr>
          <p:grpSpPr>
            <a:xfrm>
              <a:off x="6391127" y="2033129"/>
              <a:ext cx="606645" cy="620983"/>
              <a:chOff x="6227591" y="1938845"/>
              <a:chExt cx="606645" cy="620983"/>
            </a:xfrm>
          </p:grpSpPr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4FB2C81D-CFCE-4181-1C3E-E9AFE1A0A2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227591" y="1938845"/>
                <a:ext cx="0" cy="620983"/>
              </a:xfrm>
              <a:prstGeom prst="straightConnector1">
                <a:avLst/>
              </a:prstGeom>
              <a:ln w="19050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0A00BCCF-BF58-C07F-758D-27C2E96D52F0}"/>
                  </a:ext>
                </a:extLst>
              </p:cNvPr>
              <p:cNvCxnSpPr/>
              <p:nvPr/>
            </p:nvCxnSpPr>
            <p:spPr>
              <a:xfrm>
                <a:off x="6227591" y="2559828"/>
                <a:ext cx="606645" cy="0"/>
              </a:xfrm>
              <a:prstGeom prst="straightConnector1">
                <a:avLst/>
              </a:prstGeom>
              <a:ln w="19050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C11F1DB-B2C7-ADB6-8EE1-C8017C6D930C}"/>
                </a:ext>
              </a:extLst>
            </p:cNvPr>
            <p:cNvSpPr txBox="1"/>
            <p:nvPr/>
          </p:nvSpPr>
          <p:spPr>
            <a:xfrm>
              <a:off x="6544856" y="2608810"/>
              <a:ext cx="27122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pPr algn="l"/>
              <a:r>
                <a:rPr lang="en-TW" sz="1200" b="1" dirty="0">
                  <a:solidFill>
                    <a:srgbClr val="FFFF00"/>
                  </a:solidFill>
                </a:rPr>
                <a:t>x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6A07BBC-59E7-B2D5-AA66-78105716007A}"/>
                </a:ext>
              </a:extLst>
            </p:cNvPr>
            <p:cNvSpPr txBox="1"/>
            <p:nvPr/>
          </p:nvSpPr>
          <p:spPr>
            <a:xfrm>
              <a:off x="6115315" y="2232984"/>
              <a:ext cx="27443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pPr algn="l"/>
              <a:r>
                <a:rPr lang="en-TW" sz="1200" b="1" dirty="0">
                  <a:solidFill>
                    <a:srgbClr val="FFFF00"/>
                  </a:solidFill>
                </a:rPr>
                <a:t>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09832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4" grpId="0" animBg="1"/>
      <p:bldP spid="3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C29C2-3F32-B029-9ACF-92F9F5E70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Reward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3B6F6-CCE9-813D-D175-C155C632D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W" dirty="0"/>
              <a:t>Check if the </a:t>
            </a:r>
            <a:r>
              <a:rPr lang="en-TW" i="1" dirty="0"/>
              <a:t>"last_checkpoint_index"</a:t>
            </a:r>
            <a:r>
              <a:rPr lang="en-TW" dirty="0"/>
              <a:t> changed between last and current timestep</a:t>
            </a:r>
          </a:p>
          <a:p>
            <a:pPr lvl="1"/>
            <a:r>
              <a:rPr lang="en-TW" b="1" dirty="0"/>
              <a:t>yes: </a:t>
            </a:r>
            <a:r>
              <a:rPr lang="en-TW" dirty="0"/>
              <a:t>captured a flag </a:t>
            </a:r>
            <a:r>
              <a:rPr lang="en-TW" dirty="0">
                <a:sym typeface="Wingdings" pitchFamily="2" charset="2"/>
              </a:rPr>
              <a:t> give reward</a:t>
            </a:r>
          </a:p>
          <a:p>
            <a:pPr lvl="1"/>
            <a:r>
              <a:rPr lang="en-TW" b="1" dirty="0">
                <a:sym typeface="Wingdings" pitchFamily="2" charset="2"/>
              </a:rPr>
              <a:t>no</a:t>
            </a:r>
            <a:r>
              <a:rPr lang="en-TW" dirty="0">
                <a:sym typeface="Wingdings" pitchFamily="2" charset="2"/>
              </a:rPr>
              <a:t>  do nothing</a:t>
            </a:r>
            <a:endParaRPr lang="en-T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F3D9F-8585-7C6F-77E8-46637C0A0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A0904E-5BB9-BCBB-6384-7E0F7D232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61" y="3429000"/>
            <a:ext cx="7772400" cy="2703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395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8AD14-B9FD-087A-5087-D3F06A6DB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>
                <a:solidFill>
                  <a:srgbClr val="FF0000"/>
                </a:solidFill>
              </a:rPr>
              <a:t>(kb_play.py) </a:t>
            </a:r>
            <a:r>
              <a:rPr lang="en-TW" dirty="0"/>
              <a:t>Walkthrough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9F4FC-2ED1-AE08-AC53-70170C4D5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811" y="1828800"/>
            <a:ext cx="9603701" cy="652007"/>
          </a:xfrm>
        </p:spPr>
        <p:txBody>
          <a:bodyPr>
            <a:normAutofit fontScale="70000" lnSpcReduction="20000"/>
          </a:bodyPr>
          <a:lstStyle/>
          <a:p>
            <a:r>
              <a:rPr lang="en-TW" dirty="0"/>
              <a:t>Use arrow key to control the character</a:t>
            </a:r>
          </a:p>
          <a:p>
            <a:r>
              <a:rPr lang="en-TW" dirty="0"/>
              <a:t>Press space to print observation infos for debugging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CBEEB-0823-B57C-BC91-81863162DC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B30A1A-4DD0-3EB1-4A7F-0A8615A96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2536" y="2784563"/>
            <a:ext cx="6406927" cy="3185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270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B4327EA-5A77-48B5-33AE-39FAD9309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Setup Requirements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C84B07-B077-A92B-5EDE-746419C24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W" dirty="0"/>
              <a:t>Python version: 3.12</a:t>
            </a:r>
          </a:p>
          <a:p>
            <a:r>
              <a:rPr lang="en-TW" dirty="0"/>
              <a:t>Install the following python packages with your package manager of choice</a:t>
            </a:r>
          </a:p>
          <a:p>
            <a:pPr lvl="1"/>
            <a:r>
              <a:rPr lang="en-TW" dirty="0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gymnasium==1.2.3</a:t>
            </a:r>
          </a:p>
          <a:p>
            <a:pPr lvl="1"/>
            <a:r>
              <a:rPr lang="en-TW" dirty="0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numpy&lt;2.0.0</a:t>
            </a:r>
          </a:p>
          <a:p>
            <a:pPr lvl="1"/>
            <a:r>
              <a:rPr lang="en-TW" dirty="0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mlgame3d==0.8.0</a:t>
            </a:r>
          </a:p>
          <a:p>
            <a:pPr lvl="1"/>
            <a:r>
              <a:rPr lang="en-TW" dirty="0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stable-baselines3==2.7.1</a:t>
            </a:r>
          </a:p>
          <a:p>
            <a:pPr lvl="1"/>
            <a:r>
              <a:rPr lang="en-TW" dirty="0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tensorboard==2.20.0</a:t>
            </a:r>
          </a:p>
          <a:p>
            <a:pPr lvl="1"/>
            <a:r>
              <a:rPr lang="en-TW" dirty="0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setuptools&lt;81.0  </a:t>
            </a:r>
            <a:r>
              <a:rPr lang="en-TW" i="1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# important for running tensorboard</a:t>
            </a:r>
          </a:p>
          <a:p>
            <a:pPr lvl="1"/>
            <a:r>
              <a:rPr lang="en-TW" dirty="0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torch==2.10.0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6D027-3517-D087-C39C-D3710EB45A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133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5FA54-E803-5154-7B80-DBEA5CAE6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Install Proly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2C54A-1F9F-1419-B2D8-83C88C90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811" y="1828799"/>
            <a:ext cx="9603701" cy="4492517"/>
          </a:xfrm>
        </p:spPr>
        <p:txBody>
          <a:bodyPr>
            <a:normAutofit fontScale="92500" lnSpcReduction="20000"/>
          </a:bodyPr>
          <a:lstStyle/>
          <a:p>
            <a:r>
              <a:rPr lang="en-US" sz="1600" b="1" dirty="0"/>
              <a:t>Download page:</a:t>
            </a:r>
            <a:r>
              <a:rPr lang="en-US" sz="1600" dirty="0"/>
              <a:t> </a:t>
            </a:r>
            <a:r>
              <a:rPr lang="en-US" sz="1600" dirty="0">
                <a:hlinkClick r:id="rId3"/>
              </a:rPr>
              <a:t>https://github.com/PAIA-Playful-AI-Arena/Proly/releases/tag/1.4.0-beta.1</a:t>
            </a:r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Unzip &amp; put under </a:t>
            </a:r>
            <a:r>
              <a:rPr lang="en-US" sz="1600" dirty="0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HW3-2/</a:t>
            </a:r>
            <a:r>
              <a:rPr lang="en-US" sz="1600" dirty="0"/>
              <a:t> directory root</a:t>
            </a:r>
            <a:endParaRPr lang="en-US" sz="1400" dirty="0"/>
          </a:p>
          <a:p>
            <a:pPr marL="501650" lvl="1" indent="-223838">
              <a:tabLst>
                <a:tab pos="1287463" algn="l"/>
              </a:tabLst>
            </a:pPr>
            <a:r>
              <a:rPr lang="en-US" sz="1400" b="1" dirty="0"/>
              <a:t>Windows	: </a:t>
            </a:r>
            <a:r>
              <a:rPr lang="en-US" sz="1400" dirty="0" err="1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Proly.exe</a:t>
            </a:r>
            <a:endParaRPr lang="en-US" sz="1400" dirty="0"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</a:endParaRPr>
          </a:p>
          <a:p>
            <a:pPr marL="501650" lvl="1" indent="-223838">
              <a:tabLst>
                <a:tab pos="1287463" algn="l"/>
              </a:tabLst>
            </a:pPr>
            <a:r>
              <a:rPr lang="en-US" sz="1400" b="1" dirty="0"/>
              <a:t>macOS	: </a:t>
            </a:r>
            <a:r>
              <a:rPr lang="en-US" sz="1400" dirty="0" err="1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Proly.app</a:t>
            </a:r>
            <a:endParaRPr lang="en-US" sz="1400" dirty="0">
              <a:latin typeface="Consolas" panose="020B0609020204030204" pitchFamily="49" charset="0"/>
              <a:ea typeface="Menlo" panose="020B0609030804020204" pitchFamily="49" charset="0"/>
              <a:cs typeface="Consolas" panose="020B0609020204030204" pitchFamily="49" charset="0"/>
            </a:endParaRPr>
          </a:p>
          <a:p>
            <a:pPr marL="501650" lvl="1" indent="-223838">
              <a:tabLst>
                <a:tab pos="1287463" algn="l"/>
              </a:tabLst>
            </a:pPr>
            <a:r>
              <a:rPr lang="en-US" sz="1400" b="1" dirty="0"/>
              <a:t>Linux	: </a:t>
            </a:r>
            <a:r>
              <a:rPr lang="en-US" sz="1400" dirty="0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Proly.x86_64</a:t>
            </a:r>
          </a:p>
          <a:p>
            <a:pPr marL="222558" indent="-223838">
              <a:tabLst>
                <a:tab pos="1287463" algn="l"/>
              </a:tabLst>
            </a:pPr>
            <a:r>
              <a:rPr lang="en-US" sz="1600" dirty="0">
                <a:ea typeface="Menlo" panose="020B0609030804020204" pitchFamily="49" charset="0"/>
                <a:cs typeface="Consolas" panose="020B0609020204030204" pitchFamily="49" charset="0"/>
              </a:rPr>
              <a:t>To test if the game is working, run:</a:t>
            </a:r>
          </a:p>
          <a:p>
            <a:pPr marL="501650" lvl="1" indent="-223838">
              <a:tabLst>
                <a:tab pos="1287463" algn="l"/>
              </a:tabLst>
            </a:pPr>
            <a:r>
              <a:rPr lang="en-US" sz="1400" dirty="0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python –m mlgame3d &lt;</a:t>
            </a:r>
            <a:r>
              <a:rPr lang="en-US" sz="1400" dirty="0" err="1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Proly</a:t>
            </a:r>
            <a:r>
              <a:rPr lang="en-US" sz="1400" dirty="0">
                <a:latin typeface="Consolas" panose="020B0609020204030204" pitchFamily="49" charset="0"/>
                <a:ea typeface="Menlo" panose="020B0609030804020204" pitchFamily="49" charset="0"/>
                <a:cs typeface="Consolas" panose="020B0609020204030204" pitchFamily="49" charset="0"/>
              </a:rPr>
              <a:t> executable path&gt;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C6A26D-0A4B-E053-44F1-7CF2DF46B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38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CE91E77-3661-EF5D-F289-8ACB8ACB854A}"/>
              </a:ext>
            </a:extLst>
          </p:cNvPr>
          <p:cNvGrpSpPr/>
          <p:nvPr/>
        </p:nvGrpSpPr>
        <p:grpSpPr>
          <a:xfrm>
            <a:off x="2047067" y="2245937"/>
            <a:ext cx="5901925" cy="2128382"/>
            <a:chOff x="2083643" y="2364809"/>
            <a:chExt cx="5901925" cy="212838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E1604E3-50DB-F716-8DB1-CC02B20D78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83643" y="2364809"/>
              <a:ext cx="4012357" cy="212838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E4C5CE1-F3A4-2E1E-D101-4AF2F14F7906}"/>
                </a:ext>
              </a:extLst>
            </p:cNvPr>
            <p:cNvSpPr txBox="1"/>
            <p:nvPr/>
          </p:nvSpPr>
          <p:spPr>
            <a:xfrm>
              <a:off x="6813452" y="2982992"/>
              <a:ext cx="102303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pPr algn="l"/>
              <a:r>
                <a:rPr lang="en-TW" b="1" dirty="0">
                  <a:solidFill>
                    <a:schemeClr val="accent2"/>
                  </a:solidFill>
                </a:rPr>
                <a:t>macOS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A227AE8-8912-99BE-9A19-BCBC2526900E}"/>
                </a:ext>
              </a:extLst>
            </p:cNvPr>
            <p:cNvSpPr txBox="1"/>
            <p:nvPr/>
          </p:nvSpPr>
          <p:spPr>
            <a:xfrm>
              <a:off x="6813452" y="3553425"/>
              <a:ext cx="7473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pPr algn="l"/>
              <a:r>
                <a:rPr lang="en-TW" b="1" dirty="0">
                  <a:solidFill>
                    <a:schemeClr val="accent2"/>
                  </a:solidFill>
                </a:rPr>
                <a:t>Linux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3725C8D-9372-1362-0405-9FEBB2BF65CD}"/>
                </a:ext>
              </a:extLst>
            </p:cNvPr>
            <p:cNvSpPr txBox="1"/>
            <p:nvPr/>
          </p:nvSpPr>
          <p:spPr>
            <a:xfrm>
              <a:off x="6813452" y="4123859"/>
              <a:ext cx="117211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pPr algn="l"/>
              <a:r>
                <a:rPr lang="en-TW" b="1" dirty="0">
                  <a:solidFill>
                    <a:schemeClr val="accent2"/>
                  </a:solidFill>
                </a:rPr>
                <a:t>Windows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9BADAED-F793-31F1-80E9-B104C78A3F8D}"/>
                </a:ext>
              </a:extLst>
            </p:cNvPr>
            <p:cNvCxnSpPr/>
            <p:nvPr/>
          </p:nvCxnSpPr>
          <p:spPr>
            <a:xfrm>
              <a:off x="6199571" y="3167658"/>
              <a:ext cx="50292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1EC23A7-0377-6189-2858-B101A26BDC15}"/>
                </a:ext>
              </a:extLst>
            </p:cNvPr>
            <p:cNvCxnSpPr/>
            <p:nvPr/>
          </p:nvCxnSpPr>
          <p:spPr>
            <a:xfrm>
              <a:off x="6199571" y="3749807"/>
              <a:ext cx="50292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F0A32AA-5EAC-7F82-CA43-27519826181D}"/>
                </a:ext>
              </a:extLst>
            </p:cNvPr>
            <p:cNvCxnSpPr/>
            <p:nvPr/>
          </p:nvCxnSpPr>
          <p:spPr>
            <a:xfrm>
              <a:off x="6199571" y="4308525"/>
              <a:ext cx="50292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26301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>
            <a:extLst>
              <a:ext uri="{FF2B5EF4-FFF2-40B4-BE49-F238E27FC236}">
                <a16:creationId xmlns:a16="http://schemas.microsoft.com/office/drawing/2014/main" id="{871F623C-0C56-CB0F-330F-142C60E3C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811" y="2889009"/>
            <a:ext cx="9603702" cy="728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C3B6A0-D1CD-FA9A-E1E3-A97DF5BAA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Training Command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2E581-4F42-B2F0-9237-AE673AD351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39</a:t>
            </a:fld>
            <a:endParaRPr lang="en-US"/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60963E6A-1707-6732-0139-5B2018C3E0D8}"/>
              </a:ext>
            </a:extLst>
          </p:cNvPr>
          <p:cNvGrpSpPr/>
          <p:nvPr/>
        </p:nvGrpSpPr>
        <p:grpSpPr>
          <a:xfrm>
            <a:off x="1522811" y="2273447"/>
            <a:ext cx="6673595" cy="934721"/>
            <a:chOff x="1522811" y="2273447"/>
            <a:chExt cx="6673595" cy="93472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33CD5E5-3926-11C0-93B8-F6818A0ACF2A}"/>
                </a:ext>
              </a:extLst>
            </p:cNvPr>
            <p:cNvSpPr/>
            <p:nvPr/>
          </p:nvSpPr>
          <p:spPr>
            <a:xfrm>
              <a:off x="5092727" y="2984101"/>
              <a:ext cx="3103679" cy="224067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TW" dirty="0"/>
            </a:p>
          </p:txBody>
        </p:sp>
        <p:cxnSp>
          <p:nvCxnSpPr>
            <p:cNvPr id="9" name="Elbow Connector 8">
              <a:extLst>
                <a:ext uri="{FF2B5EF4-FFF2-40B4-BE49-F238E27FC236}">
                  <a16:creationId xmlns:a16="http://schemas.microsoft.com/office/drawing/2014/main" id="{22686C73-FA84-855E-B25A-898610219D68}"/>
                </a:ext>
              </a:extLst>
            </p:cNvPr>
            <p:cNvCxnSpPr>
              <a:cxnSpLocks/>
              <a:stCxn id="7" idx="0"/>
              <a:endCxn id="13" idx="3"/>
            </p:cNvCxnSpPr>
            <p:nvPr/>
          </p:nvCxnSpPr>
          <p:spPr>
            <a:xfrm rot="16200000" flipV="1">
              <a:off x="6137696" y="2477230"/>
              <a:ext cx="418266" cy="595476"/>
            </a:xfrm>
            <a:prstGeom prst="bentConnector2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9230342-DE43-DD0D-3D53-ED5060B84A56}"/>
                </a:ext>
              </a:extLst>
            </p:cNvPr>
            <p:cNvSpPr txBox="1"/>
            <p:nvPr/>
          </p:nvSpPr>
          <p:spPr>
            <a:xfrm>
              <a:off x="1522811" y="2273447"/>
              <a:ext cx="4526280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1">
              <a:spAutoFit/>
            </a:bodyPr>
            <a:lstStyle/>
            <a:p>
              <a:pPr algn="l"/>
              <a:r>
                <a:rPr lang="en-TW" sz="1600" dirty="0">
                  <a:solidFill>
                    <a:srgbClr val="FF0000"/>
                  </a:solidFill>
                </a:rPr>
                <a:t>Hide other player, as it is not needed for this assignment </a:t>
              </a:r>
              <a:r>
                <a:rPr lang="en-TW" sz="1600" b="1" dirty="0">
                  <a:solidFill>
                    <a:srgbClr val="FF0000"/>
                  </a:solidFill>
                </a:rPr>
                <a:t>(DON'T MODIFY)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2E98CC62-1695-CC73-6F22-5F8822917545}"/>
              </a:ext>
            </a:extLst>
          </p:cNvPr>
          <p:cNvGrpSpPr/>
          <p:nvPr/>
        </p:nvGrpSpPr>
        <p:grpSpPr>
          <a:xfrm>
            <a:off x="4572398" y="1845512"/>
            <a:ext cx="4594712" cy="1362656"/>
            <a:chOff x="4572398" y="1845512"/>
            <a:chExt cx="4594712" cy="136265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1C50D85-CB5C-A006-9B2A-7EA93F601C5C}"/>
                </a:ext>
              </a:extLst>
            </p:cNvPr>
            <p:cNvSpPr/>
            <p:nvPr/>
          </p:nvSpPr>
          <p:spPr>
            <a:xfrm>
              <a:off x="8255166" y="2984101"/>
              <a:ext cx="911944" cy="224067"/>
            </a:xfrm>
            <a:prstGeom prst="rect">
              <a:avLst/>
            </a:prstGeom>
            <a:noFill/>
            <a:ln w="1905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TW" dirty="0"/>
            </a:p>
          </p:txBody>
        </p:sp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588C6104-322B-E3F4-D883-2FC5E8DE33E0}"/>
                </a:ext>
              </a:extLst>
            </p:cNvPr>
            <p:cNvCxnSpPr>
              <a:cxnSpLocks/>
              <a:stCxn id="21" idx="0"/>
              <a:endCxn id="25" idx="3"/>
            </p:cNvCxnSpPr>
            <p:nvPr/>
          </p:nvCxnSpPr>
          <p:spPr>
            <a:xfrm rot="16200000" flipV="1">
              <a:off x="7260264" y="1533227"/>
              <a:ext cx="969312" cy="1932436"/>
            </a:xfrm>
            <a:prstGeom prst="bentConnector2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75CD518-7CED-488D-5441-706EC4AF2BAA}"/>
                </a:ext>
              </a:extLst>
            </p:cNvPr>
            <p:cNvSpPr txBox="1"/>
            <p:nvPr/>
          </p:nvSpPr>
          <p:spPr>
            <a:xfrm>
              <a:off x="4572398" y="1845512"/>
              <a:ext cx="2206304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1">
              <a:spAutoFit/>
            </a:bodyPr>
            <a:lstStyle/>
            <a:p>
              <a:pPr algn="l"/>
              <a:r>
                <a:rPr lang="en-TW" sz="1600" dirty="0">
                  <a:solidFill>
                    <a:schemeClr val="accent5"/>
                  </a:solidFill>
                </a:rPr>
                <a:t># of episodes to run</a:t>
              </a:r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A6569CE0-ED83-B532-87AE-7F595B39BAAF}"/>
              </a:ext>
            </a:extLst>
          </p:cNvPr>
          <p:cNvGrpSpPr/>
          <p:nvPr/>
        </p:nvGrpSpPr>
        <p:grpSpPr>
          <a:xfrm>
            <a:off x="524705" y="3253409"/>
            <a:ext cx="4724886" cy="927020"/>
            <a:chOff x="524705" y="3253409"/>
            <a:chExt cx="4724886" cy="92702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9747DD6-82EB-3970-E23E-078837EC59C4}"/>
                </a:ext>
              </a:extLst>
            </p:cNvPr>
            <p:cNvSpPr/>
            <p:nvPr/>
          </p:nvSpPr>
          <p:spPr>
            <a:xfrm>
              <a:off x="2300099" y="3253409"/>
              <a:ext cx="2949492" cy="224066"/>
            </a:xfrm>
            <a:prstGeom prst="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TW" dirty="0">
                <a:solidFill>
                  <a:srgbClr val="00B050"/>
                </a:solidFill>
              </a:endParaRPr>
            </a:p>
          </p:txBody>
        </p:sp>
        <p:cxnSp>
          <p:nvCxnSpPr>
            <p:cNvPr id="36" name="Elbow Connector 35">
              <a:extLst>
                <a:ext uri="{FF2B5EF4-FFF2-40B4-BE49-F238E27FC236}">
                  <a16:creationId xmlns:a16="http://schemas.microsoft.com/office/drawing/2014/main" id="{0D1753FE-B123-0344-CCAD-66A4910D18E2}"/>
                </a:ext>
              </a:extLst>
            </p:cNvPr>
            <p:cNvCxnSpPr>
              <a:cxnSpLocks/>
              <a:stCxn id="31" idx="2"/>
              <a:endCxn id="37" idx="0"/>
            </p:cNvCxnSpPr>
            <p:nvPr/>
          </p:nvCxnSpPr>
          <p:spPr>
            <a:xfrm rot="5400000">
              <a:off x="3116644" y="3183674"/>
              <a:ext cx="364400" cy="952002"/>
            </a:xfrm>
            <a:prstGeom prst="bentConnector3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F2D731D-EAB7-8BE3-C341-6B04B7B67F52}"/>
                </a:ext>
              </a:extLst>
            </p:cNvPr>
            <p:cNvSpPr txBox="1"/>
            <p:nvPr/>
          </p:nvSpPr>
          <p:spPr>
            <a:xfrm>
              <a:off x="524705" y="3841875"/>
              <a:ext cx="459627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 anchorCtr="1">
              <a:spAutoFit/>
            </a:bodyPr>
            <a:lstStyle/>
            <a:p>
              <a:pPr algn="l"/>
              <a:r>
                <a:rPr lang="en-TW" sz="1600" dirty="0">
                  <a:solidFill>
                    <a:srgbClr val="00B050"/>
                  </a:solidFill>
                </a:rPr>
                <a:t>Disable items</a:t>
              </a:r>
              <a:r>
                <a:rPr lang="en-TW" sz="1600" b="1" dirty="0">
                  <a:solidFill>
                    <a:srgbClr val="00B050"/>
                  </a:solidFill>
                </a:rPr>
                <a:t>(DONT MODIFY)</a:t>
              </a:r>
              <a:r>
                <a:rPr lang="en-TW" sz="1600" dirty="0">
                  <a:solidFill>
                    <a:srgbClr val="00B050"/>
                  </a:solidFill>
                </a:rPr>
                <a:t> &amp; audio</a:t>
              </a: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C5EA5E1E-F3F3-9DBF-91D9-E483204B9F12}"/>
              </a:ext>
            </a:extLst>
          </p:cNvPr>
          <p:cNvGrpSpPr/>
          <p:nvPr/>
        </p:nvGrpSpPr>
        <p:grpSpPr>
          <a:xfrm>
            <a:off x="1569707" y="3253409"/>
            <a:ext cx="4721459" cy="1376996"/>
            <a:chOff x="1569707" y="3253409"/>
            <a:chExt cx="4721459" cy="1376996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0BEBE69E-A69C-8CFC-B83F-371E8538F83E}"/>
                </a:ext>
              </a:extLst>
            </p:cNvPr>
            <p:cNvSpPr/>
            <p:nvPr/>
          </p:nvSpPr>
          <p:spPr>
            <a:xfrm>
              <a:off x="5305674" y="3253409"/>
              <a:ext cx="985492" cy="224066"/>
            </a:xfrm>
            <a:prstGeom prst="rect">
              <a:avLst/>
            </a:prstGeom>
            <a:noFill/>
            <a:ln w="19050">
              <a:solidFill>
                <a:srgbClr val="FFC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TW" dirty="0">
                <a:solidFill>
                  <a:srgbClr val="FFC000"/>
                </a:solidFill>
              </a:endParaRPr>
            </a:p>
          </p:txBody>
        </p:sp>
        <p:cxnSp>
          <p:nvCxnSpPr>
            <p:cNvPr id="63" name="Elbow Connector 62">
              <a:extLst>
                <a:ext uri="{FF2B5EF4-FFF2-40B4-BE49-F238E27FC236}">
                  <a16:creationId xmlns:a16="http://schemas.microsoft.com/office/drawing/2014/main" id="{03528BF9-05D5-2721-E1E6-B0ECF40FEF1D}"/>
                </a:ext>
              </a:extLst>
            </p:cNvPr>
            <p:cNvCxnSpPr>
              <a:cxnSpLocks/>
              <a:stCxn id="61" idx="2"/>
              <a:endCxn id="64" idx="3"/>
            </p:cNvCxnSpPr>
            <p:nvPr/>
          </p:nvCxnSpPr>
          <p:spPr>
            <a:xfrm rot="5400000">
              <a:off x="4733685" y="3396392"/>
              <a:ext cx="983653" cy="1145818"/>
            </a:xfrm>
            <a:prstGeom prst="bentConnector2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CE447B7-F16B-69D0-9D27-1F76C15C6A9C}"/>
                </a:ext>
              </a:extLst>
            </p:cNvPr>
            <p:cNvSpPr txBox="1"/>
            <p:nvPr/>
          </p:nvSpPr>
          <p:spPr>
            <a:xfrm>
              <a:off x="1569707" y="4291851"/>
              <a:ext cx="308289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pPr algn="l"/>
              <a:r>
                <a:rPr lang="en-TW" sz="1600" dirty="0">
                  <a:solidFill>
                    <a:srgbClr val="FFC000"/>
                  </a:solidFill>
                </a:rPr>
                <a:t>Map to load, can be 1, 2 or 3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91BAE58C-AD94-5511-7B77-6025E2B193EE}"/>
              </a:ext>
            </a:extLst>
          </p:cNvPr>
          <p:cNvGrpSpPr/>
          <p:nvPr/>
        </p:nvGrpSpPr>
        <p:grpSpPr>
          <a:xfrm>
            <a:off x="4762719" y="3254148"/>
            <a:ext cx="3433686" cy="1701257"/>
            <a:chOff x="4762719" y="3254148"/>
            <a:chExt cx="3433686" cy="1701257"/>
          </a:xfrm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70D6BC53-17BD-9EE8-8CA4-63152101CD63}"/>
                </a:ext>
              </a:extLst>
            </p:cNvPr>
            <p:cNvSpPr/>
            <p:nvPr/>
          </p:nvSpPr>
          <p:spPr>
            <a:xfrm>
              <a:off x="6346828" y="3254148"/>
              <a:ext cx="1849577" cy="224066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TW" dirty="0">
                <a:solidFill>
                  <a:srgbClr val="CCFF33"/>
                </a:solidFill>
              </a:endParaRPr>
            </a:p>
          </p:txBody>
        </p:sp>
        <p:cxnSp>
          <p:nvCxnSpPr>
            <p:cNvPr id="71" name="Elbow Connector 70">
              <a:extLst>
                <a:ext uri="{FF2B5EF4-FFF2-40B4-BE49-F238E27FC236}">
                  <a16:creationId xmlns:a16="http://schemas.microsoft.com/office/drawing/2014/main" id="{14ECA201-44F1-483C-3356-FED6DED75E77}"/>
                </a:ext>
              </a:extLst>
            </p:cNvPr>
            <p:cNvCxnSpPr>
              <a:cxnSpLocks/>
              <a:stCxn id="67" idx="2"/>
              <a:endCxn id="72" idx="3"/>
            </p:cNvCxnSpPr>
            <p:nvPr/>
          </p:nvCxnSpPr>
          <p:spPr>
            <a:xfrm rot="5400000">
              <a:off x="6293114" y="3807625"/>
              <a:ext cx="1307914" cy="649093"/>
            </a:xfrm>
            <a:prstGeom prst="bentConnector2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C24E806-E15B-F6C6-7D07-23E682703BA1}"/>
                </a:ext>
              </a:extLst>
            </p:cNvPr>
            <p:cNvSpPr txBox="1"/>
            <p:nvPr/>
          </p:nvSpPr>
          <p:spPr>
            <a:xfrm>
              <a:off x="4762719" y="4616851"/>
              <a:ext cx="1859805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pPr algn="l"/>
              <a:r>
                <a:rPr lang="en-TW" sz="1600" dirty="0">
                  <a:solidFill>
                    <a:schemeClr val="accent2"/>
                  </a:solidFill>
                </a:rPr>
                <a:t># of checkpoints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57254B8C-C8AB-616D-05B4-A4358191A756}"/>
              </a:ext>
            </a:extLst>
          </p:cNvPr>
          <p:cNvGrpSpPr/>
          <p:nvPr/>
        </p:nvGrpSpPr>
        <p:grpSpPr>
          <a:xfrm>
            <a:off x="6480962" y="3251861"/>
            <a:ext cx="3550972" cy="2193379"/>
            <a:chOff x="6480962" y="3251861"/>
            <a:chExt cx="3550972" cy="2193379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D26853EB-6153-EE8E-61D1-7F2521928777}"/>
                </a:ext>
              </a:extLst>
            </p:cNvPr>
            <p:cNvSpPr/>
            <p:nvPr/>
          </p:nvSpPr>
          <p:spPr>
            <a:xfrm>
              <a:off x="8252066" y="3251861"/>
              <a:ext cx="1755217" cy="224066"/>
            </a:xfrm>
            <a:prstGeom prst="rect">
              <a:avLst/>
            </a:prstGeom>
            <a:no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TW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3536D571-8376-5F47-1C53-2AA80407BB3B}"/>
                </a:ext>
              </a:extLst>
            </p:cNvPr>
            <p:cNvSpPr txBox="1"/>
            <p:nvPr/>
          </p:nvSpPr>
          <p:spPr>
            <a:xfrm>
              <a:off x="6480962" y="5106686"/>
              <a:ext cx="3550972" cy="3385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r>
                <a:rPr lang="en-US" sz="1600" dirty="0">
                  <a:solidFill>
                    <a:schemeClr val="accent6">
                      <a:lumMod val="75000"/>
                    </a:schemeClr>
                  </a:solidFill>
                </a:rPr>
                <a:t>Time limit for each episode in secs</a:t>
              </a:r>
              <a:endParaRPr lang="en-TW" sz="160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cxnSp>
          <p:nvCxnSpPr>
            <p:cNvPr id="83" name="Elbow Connector 82">
              <a:extLst>
                <a:ext uri="{FF2B5EF4-FFF2-40B4-BE49-F238E27FC236}">
                  <a16:creationId xmlns:a16="http://schemas.microsoft.com/office/drawing/2014/main" id="{E9F33295-9FAF-A8C0-DB5C-9653D388486C}"/>
                </a:ext>
              </a:extLst>
            </p:cNvPr>
            <p:cNvCxnSpPr>
              <a:stCxn id="78" idx="2"/>
              <a:endCxn id="79" idx="0"/>
            </p:cNvCxnSpPr>
            <p:nvPr/>
          </p:nvCxnSpPr>
          <p:spPr>
            <a:xfrm rot="5400000">
              <a:off x="7877683" y="3854693"/>
              <a:ext cx="1630759" cy="873227"/>
            </a:xfrm>
            <a:prstGeom prst="bentConnector3">
              <a:avLst/>
            </a:prstGeom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601BBED1-1AD7-D0E5-DB33-33FF19EB76BF}"/>
              </a:ext>
            </a:extLst>
          </p:cNvPr>
          <p:cNvSpPr txBox="1"/>
          <p:nvPr/>
        </p:nvSpPr>
        <p:spPr>
          <a:xfrm>
            <a:off x="1202145" y="5136530"/>
            <a:ext cx="4596275" cy="1477328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TW" b="1" dirty="0"/>
              <a:t>Other useful arguments: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TW" b="1" dirty="0">
                <a:latin typeface="Consolas" panose="020B0609020204030204" pitchFamily="49" charset="0"/>
                <a:cs typeface="Consolas" panose="020B0609020204030204" pitchFamily="49" charset="0"/>
              </a:rPr>
              <a:t>-ng</a:t>
            </a:r>
            <a:r>
              <a:rPr lang="en-TW" b="1" dirty="0"/>
              <a:t>: </a:t>
            </a:r>
            <a:r>
              <a:rPr lang="en-TW" dirty="0"/>
              <a:t>Disable game rendering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TW" b="1" dirty="0">
                <a:latin typeface="Consolas" panose="020B0609020204030204" pitchFamily="49" charset="0"/>
                <a:cs typeface="Consolas" panose="020B0609020204030204" pitchFamily="49" charset="0"/>
              </a:rPr>
              <a:t>-f &lt;int&gt;</a:t>
            </a:r>
            <a:r>
              <a:rPr lang="en-TW" b="1" dirty="0"/>
              <a:t>:</a:t>
            </a:r>
            <a:r>
              <a:rPr lang="en-TW" dirty="0"/>
              <a:t> Frame per second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TW" b="1" dirty="0">
                <a:latin typeface="Consolas" panose="020B0609020204030204" pitchFamily="49" charset="0"/>
                <a:cs typeface="Consolas" panose="020B0609020204030204" pitchFamily="49" charset="0"/>
              </a:rPr>
              <a:t>-ts &lt;int&gt;</a:t>
            </a:r>
            <a:r>
              <a:rPr lang="en-TW" b="1" dirty="0"/>
              <a:t>: </a:t>
            </a:r>
            <a:r>
              <a:rPr lang="en-TW" dirty="0"/>
              <a:t>Time scale factor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TW" b="1" dirty="0">
                <a:latin typeface="Consolas" panose="020B0609020204030204" pitchFamily="49" charset="0"/>
                <a:cs typeface="Consolas" panose="020B0609020204030204" pitchFamily="49" charset="0"/>
              </a:rPr>
              <a:t>--seed &lt;int&gt;</a:t>
            </a:r>
            <a:r>
              <a:rPr lang="en-TW" b="1" dirty="0"/>
              <a:t>:</a:t>
            </a:r>
            <a:r>
              <a:rPr lang="en-TW" dirty="0"/>
              <a:t> Random seed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A73CD622-2AFC-2C9C-24C3-580DAE8950F2}"/>
              </a:ext>
            </a:extLst>
          </p:cNvPr>
          <p:cNvGrpSpPr/>
          <p:nvPr/>
        </p:nvGrpSpPr>
        <p:grpSpPr>
          <a:xfrm>
            <a:off x="6156739" y="1099149"/>
            <a:ext cx="4898688" cy="2376778"/>
            <a:chOff x="6156739" y="1099149"/>
            <a:chExt cx="4898688" cy="2376778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AF844310-00EA-C620-687A-0FF6F5108D57}"/>
                </a:ext>
              </a:extLst>
            </p:cNvPr>
            <p:cNvSpPr/>
            <p:nvPr/>
          </p:nvSpPr>
          <p:spPr>
            <a:xfrm>
              <a:off x="10062944" y="3251861"/>
              <a:ext cx="992483" cy="224066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TW" dirty="0">
                <a:solidFill>
                  <a:srgbClr val="92D050"/>
                </a:solidFill>
              </a:endParaRPr>
            </a:p>
          </p:txBody>
        </p:sp>
        <p:cxnSp>
          <p:nvCxnSpPr>
            <p:cNvPr id="90" name="Elbow Connector 89">
              <a:extLst>
                <a:ext uri="{FF2B5EF4-FFF2-40B4-BE49-F238E27FC236}">
                  <a16:creationId xmlns:a16="http://schemas.microsoft.com/office/drawing/2014/main" id="{6A1BEF05-FBDF-DFF2-B585-194A05F7787B}"/>
                </a:ext>
              </a:extLst>
            </p:cNvPr>
            <p:cNvCxnSpPr>
              <a:cxnSpLocks/>
              <a:stCxn id="86" idx="0"/>
              <a:endCxn id="91" idx="3"/>
            </p:cNvCxnSpPr>
            <p:nvPr/>
          </p:nvCxnSpPr>
          <p:spPr>
            <a:xfrm rot="16200000" flipV="1">
              <a:off x="9276224" y="1968898"/>
              <a:ext cx="1860324" cy="705601"/>
            </a:xfrm>
            <a:prstGeom prst="bentConnector2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BE124E9B-C080-14BE-19E8-D717CAB905EC}"/>
                </a:ext>
              </a:extLst>
            </p:cNvPr>
            <p:cNvSpPr txBox="1"/>
            <p:nvPr/>
          </p:nvSpPr>
          <p:spPr>
            <a:xfrm>
              <a:off x="6156739" y="1099149"/>
              <a:ext cx="3696846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ctr" anchorCtr="1">
              <a:spAutoFit/>
            </a:bodyPr>
            <a:lstStyle/>
            <a:p>
              <a:pPr algn="l"/>
              <a:r>
                <a:rPr lang="en-TW" sz="1600" dirty="0">
                  <a:solidFill>
                    <a:srgbClr val="FF0000"/>
                  </a:solidFill>
                </a:rPr>
                <a:t>Game executable path, </a:t>
              </a:r>
            </a:p>
            <a:p>
              <a:pPr algn="l"/>
              <a:r>
                <a:rPr lang="en-TW" sz="1600" b="1" dirty="0">
                  <a:solidFill>
                    <a:srgbClr val="FF0000"/>
                  </a:solidFill>
                </a:rPr>
                <a:t>make sure to change the extension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59988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0A5FA-7132-9D0C-1C21-BBC989D0A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Inferencing Command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4920E-41D4-4507-6EB9-4845AEB4C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TW" dirty="0"/>
          </a:p>
          <a:p>
            <a:endParaRPr lang="en-TW" dirty="0"/>
          </a:p>
          <a:p>
            <a:r>
              <a:rPr lang="en-TW" dirty="0"/>
              <a:t>Play with trained model from model.zip, </a:t>
            </a:r>
            <a:r>
              <a:rPr lang="en-TW" dirty="0">
                <a:solidFill>
                  <a:srgbClr val="FF0000"/>
                </a:solidFill>
              </a:rPr>
              <a:t>we will be grading your model with this same arguments, except for map # and random seed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010A7-E33D-081B-08DE-364BAC3E3E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40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B6F314-CB71-4E29-4913-5EB854AED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811" y="3627130"/>
            <a:ext cx="9418009" cy="59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796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1305A-80B8-1E6C-A248-F8771A164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Visualizing Training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B3E9C-E9BD-DC4F-EB1C-0F805BEE7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W" dirty="0"/>
              <a:t>Run the following command to launch TensorBoard:</a:t>
            </a:r>
          </a:p>
          <a:p>
            <a:endParaRPr lang="en-TW" dirty="0"/>
          </a:p>
          <a:p>
            <a:endParaRPr lang="en-TW" dirty="0"/>
          </a:p>
          <a:p>
            <a:r>
              <a:rPr lang="en-TW" dirty="0"/>
              <a:t>Then visit </a:t>
            </a:r>
            <a:r>
              <a:rPr lang="en-US" dirty="0">
                <a:hlinkClick r:id="rId2"/>
              </a:rPr>
              <a:t>http://localhost:6006/</a:t>
            </a:r>
            <a:r>
              <a:rPr lang="en-US" dirty="0"/>
              <a:t> to see various metrics logged during training</a:t>
            </a:r>
            <a:endParaRPr lang="en-T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1DBC3-3024-3DE4-7B12-5B1BDD7895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41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CF46A4A-9454-BE57-2B73-5FF898233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3358" y="4209528"/>
            <a:ext cx="7245284" cy="211178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D4E1256-B164-93A9-10DD-3CB2DAAD220F}"/>
              </a:ext>
            </a:extLst>
          </p:cNvPr>
          <p:cNvSpPr txBox="1"/>
          <p:nvPr/>
        </p:nvSpPr>
        <p:spPr>
          <a:xfrm>
            <a:off x="2384982" y="2531997"/>
            <a:ext cx="4363695" cy="3693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1">
            <a:spAutoFit/>
          </a:bodyPr>
          <a:lstStyle/>
          <a:p>
            <a:pPr algn="l"/>
            <a:r>
              <a:rPr lang="en-TW" dirty="0">
                <a:latin typeface="Consolas" panose="020B0609020204030204" pitchFamily="49" charset="0"/>
                <a:cs typeface="Consolas" panose="020B0609020204030204" pitchFamily="49" charset="0"/>
              </a:rPr>
              <a:t>tensorboard --logdir tensorboard/</a:t>
            </a:r>
          </a:p>
        </p:txBody>
      </p:sp>
    </p:spTree>
    <p:extLst>
      <p:ext uri="{BB962C8B-B14F-4D97-AF65-F5344CB8AC3E}">
        <p14:creationId xmlns:p14="http://schemas.microsoft.com/office/powerpoint/2010/main" val="2672685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4FADAC8-E3D3-6990-1DFE-952579A77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Submission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ABE65A-8CF5-BC3B-8975-BB0ADA58AD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D5CE6-17DD-7521-11FD-A495437508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451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79716-6963-3B48-CFF6-9EB36F267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Implementation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33672-20A9-BE51-B31F-022E910A0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TW" sz="1800" dirty="0"/>
              <a:t>You should only modify the following files</a:t>
            </a:r>
          </a:p>
          <a:p>
            <a:pPr lvl="1"/>
            <a:r>
              <a:rPr lang="en-TW" sz="1400" b="1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HW3-1/</a:t>
            </a:r>
          </a:p>
          <a:p>
            <a:pPr lvl="2"/>
            <a:r>
              <a:rPr lang="en-TW" sz="1400" dirty="0">
                <a:latin typeface="Consolas" panose="020B0609020204030204" pitchFamily="49" charset="0"/>
                <a:cs typeface="Consolas" panose="020B0609020204030204" pitchFamily="49" charset="0"/>
              </a:rPr>
              <a:t>model.py</a:t>
            </a:r>
          </a:p>
          <a:p>
            <a:pPr lvl="2"/>
            <a:r>
              <a:rPr lang="en-TW" sz="1400" dirty="0">
                <a:latin typeface="Consolas" panose="020B0609020204030204" pitchFamily="49" charset="0"/>
                <a:cs typeface="Consolas" panose="020B0609020204030204" pitchFamily="49" charset="0"/>
              </a:rPr>
              <a:t>env_runner.py</a:t>
            </a:r>
          </a:p>
          <a:p>
            <a:pPr lvl="2"/>
            <a:r>
              <a:rPr lang="en-TW" sz="1400" dirty="0">
                <a:latin typeface="Consolas" panose="020B0609020204030204" pitchFamily="49" charset="0"/>
                <a:cs typeface="Consolas" panose="020B0609020204030204" pitchFamily="49" charset="0"/>
              </a:rPr>
              <a:t>agent.py</a:t>
            </a:r>
          </a:p>
          <a:p>
            <a:pPr lvl="2"/>
            <a:r>
              <a:rPr lang="en-TW" sz="1400" dirty="0">
                <a:latin typeface="Consolas" panose="020B0609020204030204" pitchFamily="49" charset="0"/>
                <a:cs typeface="Consolas" panose="020B0609020204030204" pitchFamily="49" charset="0"/>
              </a:rPr>
              <a:t>train.py</a:t>
            </a:r>
          </a:p>
          <a:p>
            <a:pPr lvl="1"/>
            <a:r>
              <a:rPr lang="en-TW" sz="1400" b="1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HW3-2/</a:t>
            </a:r>
          </a:p>
          <a:p>
            <a:pPr lvl="2"/>
            <a:r>
              <a:rPr lang="en-TW" sz="1400" dirty="0">
                <a:latin typeface="Consolas" panose="020B0609020204030204" pitchFamily="49" charset="0"/>
                <a:cs typeface="Consolas" panose="020B0609020204030204" pitchFamily="49" charset="0"/>
              </a:rPr>
              <a:t>rl_play.py</a:t>
            </a:r>
          </a:p>
          <a:p>
            <a:pPr lvl="2"/>
            <a:r>
              <a:rPr lang="en-TW" sz="1400" dirty="0">
                <a:latin typeface="Consolas" panose="020B0609020204030204" pitchFamily="49" charset="0"/>
                <a:cs typeface="Consolas" panose="020B0609020204030204" pitchFamily="49" charset="0"/>
              </a:rPr>
              <a:t>model_play.py</a:t>
            </a:r>
          </a:p>
          <a:p>
            <a:r>
              <a:rPr lang="en-TW" sz="1800" dirty="0"/>
              <a:t>For HW3-2, do not implement hard coded gameplay rule in </a:t>
            </a:r>
            <a:r>
              <a:rPr lang="en-TW" sz="1800" dirty="0">
                <a:latin typeface="Consolas" panose="020B0609020204030204" pitchFamily="49" charset="0"/>
                <a:cs typeface="Consolas" panose="020B0609020204030204" pitchFamily="49" charset="0"/>
              </a:rPr>
              <a:t>MLPlay.update()</a:t>
            </a:r>
          </a:p>
          <a:p>
            <a:r>
              <a:rPr lang="en-TW" sz="1800" dirty="0"/>
              <a:t>Use of additional .py scripts &amp; packages are prohibited</a:t>
            </a:r>
          </a:p>
          <a:p>
            <a:r>
              <a:rPr lang="en-TW" sz="1800" dirty="0">
                <a:solidFill>
                  <a:srgbClr val="FF0000"/>
                </a:solidFill>
              </a:rPr>
              <a:t>Violating rules above will result in a score of zero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9B7D1-AC5D-AD27-7285-D10981F73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836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8DB29-7F45-21DB-C123-E83526090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2F807-6C13-7FE5-4E27-32B52D16F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HW3-1: Score &amp; 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3146C-2F36-689A-0899-4D772B9D2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2811" y="1828800"/>
            <a:ext cx="7494457" cy="4191000"/>
          </a:xfrm>
        </p:spPr>
        <p:txBody>
          <a:bodyPr>
            <a:normAutofit lnSpcReduction="10000"/>
          </a:bodyPr>
          <a:lstStyle/>
          <a:p>
            <a:r>
              <a:rPr lang="en-US" altLang="zh-TW" b="1" dirty="0" err="1">
                <a:latin typeface="Consolas" panose="020B0609020204030204" pitchFamily="49" charset="0"/>
                <a:cs typeface="Consolas" panose="020B0609020204030204" pitchFamily="49" charset="0"/>
              </a:rPr>
              <a:t>plot.py</a:t>
            </a:r>
            <a:r>
              <a:rPr lang="en-US" altLang="zh-TW" b="1" dirty="0"/>
              <a:t>(10%)</a:t>
            </a:r>
          </a:p>
          <a:p>
            <a:pPr lvl="1"/>
            <a:r>
              <a:rPr lang="en-US" altLang="zh-TW" dirty="0"/>
              <a:t>Graded based on the plotted graph drawn from </a:t>
            </a:r>
            <a:r>
              <a:rPr lang="en-US" altLang="zh-TW" dirty="0">
                <a:latin typeface="Consolas" panose="020B0609020204030204" pitchFamily="49" charset="0"/>
                <a:cs typeface="Consolas" panose="020B0609020204030204" pitchFamily="49" charset="0"/>
              </a:rPr>
              <a:t>save/</a:t>
            </a:r>
            <a:r>
              <a:rPr lang="en-US" altLang="zh-TW" dirty="0" err="1">
                <a:latin typeface="Consolas" panose="020B0609020204030204" pitchFamily="49" charset="0"/>
                <a:cs typeface="Consolas" panose="020B0609020204030204" pitchFamily="49" charset="0"/>
              </a:rPr>
              <a:t>return.txt</a:t>
            </a:r>
            <a:endParaRPr lang="en-US" altLang="zh-TW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altLang="zh-TW" dirty="0"/>
              <a:t>Make sure the overall reward goes up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Do not copy other's </a:t>
            </a:r>
            <a:r>
              <a:rPr lang="en-US" altLang="zh-TW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return.txt</a:t>
            </a:r>
            <a:r>
              <a:rPr lang="en-US" altLang="zh-TW" dirty="0">
                <a:solidFill>
                  <a:srgbClr val="FF0000"/>
                </a:solidFill>
              </a:rPr>
              <a:t>, violation will result in a score of zero for HW3</a:t>
            </a:r>
          </a:p>
          <a:p>
            <a:r>
              <a:rPr lang="en-US" altLang="zh-TW" b="1" dirty="0" err="1">
                <a:latin typeface="Consolas" panose="020B0609020204030204" pitchFamily="49" charset="0"/>
                <a:cs typeface="Consolas" panose="020B0609020204030204" pitchFamily="49" charset="0"/>
              </a:rPr>
              <a:t>eval.py</a:t>
            </a:r>
            <a:r>
              <a:rPr lang="en-US" altLang="zh-TW" b="1" dirty="0"/>
              <a:t>(30%)</a:t>
            </a:r>
            <a:endParaRPr lang="en-US" altLang="zh-TW" b="1" dirty="0">
              <a:solidFill>
                <a:srgbClr val="FF0000"/>
              </a:solidFill>
            </a:endParaRPr>
          </a:p>
          <a:p>
            <a:pPr lvl="1"/>
            <a:r>
              <a:rPr lang="en-US" altLang="zh-TW" dirty="0"/>
              <a:t>Graded based on the evaluation score</a:t>
            </a:r>
          </a:p>
          <a:p>
            <a:pPr lvl="1"/>
            <a:r>
              <a:rPr lang="en-US" altLang="zh-TW" dirty="0"/>
              <a:t>30 * ES / 120, where ES is your evaluation score (you will get all 30% if ES &gt; 120)</a:t>
            </a:r>
          </a:p>
          <a:p>
            <a:r>
              <a:rPr lang="en-US" altLang="zh-TW" b="1" dirty="0"/>
              <a:t>Report(5%)</a:t>
            </a:r>
          </a:p>
          <a:p>
            <a:pPr lvl="1"/>
            <a:r>
              <a:rPr lang="en-US" altLang="zh-TW" dirty="0"/>
              <a:t>Briefly explain your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E20114-53A9-EF41-60C5-B62B555345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44</a:t>
            </a:fld>
            <a:endParaRPr lang="en-US"/>
          </a:p>
        </p:txBody>
      </p:sp>
      <p:pic>
        <p:nvPicPr>
          <p:cNvPr id="6" name="圖片 4">
            <a:extLst>
              <a:ext uri="{FF2B5EF4-FFF2-40B4-BE49-F238E27FC236}">
                <a16:creationId xmlns:a16="http://schemas.microsoft.com/office/drawing/2014/main" id="{0CC22B66-06DA-F4F1-5C4C-6148387B3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7268" y="1626343"/>
            <a:ext cx="2430661" cy="1808653"/>
          </a:xfrm>
          <a:prstGeom prst="rect">
            <a:avLst/>
          </a:prstGeom>
        </p:spPr>
      </p:pic>
      <p:sp>
        <p:nvSpPr>
          <p:cNvPr id="7" name="矩形 2">
            <a:extLst>
              <a:ext uri="{FF2B5EF4-FFF2-40B4-BE49-F238E27FC236}">
                <a16:creationId xmlns:a16="http://schemas.microsoft.com/office/drawing/2014/main" id="{66581366-DD7B-B41B-8F15-3A0F625C2C74}"/>
              </a:ext>
            </a:extLst>
          </p:cNvPr>
          <p:cNvSpPr/>
          <p:nvPr/>
        </p:nvSpPr>
        <p:spPr>
          <a:xfrm>
            <a:off x="7077076" y="5041192"/>
            <a:ext cx="4370853" cy="1434166"/>
          </a:xfrm>
          <a:prstGeom prst="rect">
            <a:avLst/>
          </a:prstGeom>
          <a:solidFill>
            <a:srgbClr val="FBED85"/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altLang="zh-TW" b="1" dirty="0"/>
              <a:t>Note:</a:t>
            </a:r>
          </a:p>
          <a:p>
            <a:pPr algn="just"/>
            <a:r>
              <a:rPr lang="en-US" altLang="zh-TW" dirty="0"/>
              <a:t>Do not submit </a:t>
            </a:r>
            <a:r>
              <a:rPr lang="en-US" altLang="zh-TW" dirty="0" err="1">
                <a:latin typeface="Consolas" panose="020B0609020204030204" pitchFamily="49" charset="0"/>
                <a:cs typeface="Consolas" panose="020B0609020204030204" pitchFamily="49" charset="0"/>
              </a:rPr>
              <a:t>plot.py</a:t>
            </a:r>
            <a:r>
              <a:rPr lang="en-US" altLang="zh-TW" dirty="0"/>
              <a:t> and </a:t>
            </a:r>
            <a:r>
              <a:rPr lang="en-US" altLang="zh-TW" dirty="0" err="1">
                <a:latin typeface="Consolas" panose="020B0609020204030204" pitchFamily="49" charset="0"/>
                <a:cs typeface="Consolas" panose="020B0609020204030204" pitchFamily="49" charset="0"/>
              </a:rPr>
              <a:t>eval.py</a:t>
            </a:r>
            <a:r>
              <a:rPr lang="en-US" altLang="zh-TW" dirty="0"/>
              <a:t>, we'll evaluate based on the original script, so make sure to not touch those during you're own testing.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1F26D6D-B96D-E5B6-EA9A-8EA3AC3B0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022" y="3755146"/>
            <a:ext cx="2672907" cy="113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78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EB3C1-1C58-9280-102C-068042432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64E1A-01D9-933D-0079-D2E99F629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HW3-2: Score &amp; 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EF522-2D9C-5B77-7158-58816E7D7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W" b="1" dirty="0"/>
              <a:t>Agent evaluation(50%)</a:t>
            </a:r>
          </a:p>
          <a:p>
            <a:pPr lvl="1"/>
            <a:r>
              <a:rPr lang="en-TW" dirty="0"/>
              <a:t>You're agent will be evaluated on 5 different maps(map 1/2/3 and two private maps), each with 10 flags, </a:t>
            </a:r>
            <a:r>
              <a:rPr lang="en-TW" b="1" dirty="0"/>
              <a:t>1% per flag captured</a:t>
            </a:r>
            <a:r>
              <a:rPr lang="en-TW" dirty="0"/>
              <a:t>.</a:t>
            </a:r>
            <a:r>
              <a:rPr lang="en-TW" b="1" dirty="0"/>
              <a:t> </a:t>
            </a:r>
            <a:r>
              <a:rPr lang="en-TW" dirty="0"/>
              <a:t>Thus a total of 50%</a:t>
            </a:r>
          </a:p>
          <a:p>
            <a:pPr lvl="1"/>
            <a:r>
              <a:rPr lang="en-TW" dirty="0"/>
              <a:t>We'll run each map three times with different random seeds</a:t>
            </a:r>
          </a:p>
          <a:p>
            <a:pPr lvl="1"/>
            <a:r>
              <a:rPr lang="en-TW" dirty="0"/>
              <a:t>Your score for each map will be the highest score across those 3 runs</a:t>
            </a:r>
          </a:p>
          <a:p>
            <a:endParaRPr lang="en-TW" dirty="0"/>
          </a:p>
          <a:p>
            <a:r>
              <a:rPr lang="en-US" altLang="zh-TW" b="1" dirty="0"/>
              <a:t>Report(5%)</a:t>
            </a:r>
          </a:p>
          <a:p>
            <a:pPr lvl="1"/>
            <a:r>
              <a:rPr lang="en-US" altLang="zh-TW" dirty="0"/>
              <a:t>Briefly explain your 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FFDB4-ACD5-00FC-C0CA-EDE56B71F0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936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14F7C-32FB-91EE-5AB0-CFD74C64D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Submission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174C3-B058-3BAC-9104-2351BDDAA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800" dirty="0"/>
              <a:t>Submission to NTU COOL should be a zipped file with following structure:</a:t>
            </a:r>
          </a:p>
          <a:p>
            <a:pPr marL="517543" lvl="2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400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HW3_&lt;</a:t>
            </a:r>
            <a:r>
              <a:rPr lang="en-US" sz="1400" dirty="0" err="1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your_student_id</a:t>
            </a:r>
            <a:r>
              <a:rPr lang="en-US" sz="1400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&gt;.zip</a:t>
            </a:r>
          </a:p>
          <a:p>
            <a:pPr marL="517543" lvl="2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├──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HW3-1/</a:t>
            </a:r>
          </a:p>
          <a:p>
            <a:pPr marL="517543" lvl="2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│   ├──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save/</a:t>
            </a:r>
          </a:p>
          <a:p>
            <a:pPr marL="517543" lvl="2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│   │   ├──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model.pt</a:t>
            </a: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7543" lvl="2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│   │   └──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return.txt</a:t>
            </a: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7543" lvl="2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│   ├──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agent.py</a:t>
            </a: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7543" lvl="2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│   ├──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env_runner.py</a:t>
            </a: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7543" lvl="2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│   ├──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model.py</a:t>
            </a: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7543" lvl="2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│   ├──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train.py</a:t>
            </a: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7543" lvl="2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│   └──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report_&lt;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your_student_id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&gt;.pdf</a:t>
            </a:r>
          </a:p>
          <a:p>
            <a:pPr marL="517543" lvl="2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└──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HW3-2/</a:t>
            </a:r>
          </a:p>
          <a:p>
            <a:pPr marL="517543" lvl="2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├──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model.zip</a:t>
            </a: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7543" lvl="2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├──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model_play.py</a:t>
            </a: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7543" lvl="2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├── 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rl_play.py</a:t>
            </a:r>
            <a:endParaRPr 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517543" lvl="2" indent="0">
              <a:spcBef>
                <a:spcPts val="0"/>
              </a:spcBef>
              <a:buNone/>
            </a:pPr>
            <a:r>
              <a:rPr lang="en-US" sz="1400" dirty="0">
                <a:solidFill>
                  <a:schemeClr val="bg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└── 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report_&lt;</a:t>
            </a:r>
            <a:r>
              <a:rPr lang="en-US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your_student_id</a:t>
            </a:r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&gt;.pdf</a:t>
            </a:r>
          </a:p>
          <a:p>
            <a:endParaRPr lang="en-US" sz="1800" dirty="0">
              <a:solidFill>
                <a:srgbClr val="FF0000"/>
              </a:solidFill>
            </a:endParaRPr>
          </a:p>
          <a:p>
            <a:r>
              <a:rPr lang="en-US" sz="1800" dirty="0">
                <a:solidFill>
                  <a:srgbClr val="FF0000"/>
                </a:solidFill>
              </a:rPr>
              <a:t>DO NOT include any other folder/files</a:t>
            </a:r>
          </a:p>
          <a:p>
            <a:r>
              <a:rPr lang="en-US" sz="1800" dirty="0"/>
              <a:t>Any violation on the rules will result in a deduction of (5 points)/(each violation)</a:t>
            </a:r>
          </a:p>
          <a:p>
            <a:endParaRPr lang="en-T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8618E-1B18-A0D2-448D-752E424BE9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37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72E7E-C8C2-B50E-340D-E9CC31E53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Deadline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4A1BF-368D-530B-4971-86224CA8E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Same as announcement on NTU COOL (</a:t>
            </a:r>
            <a:r>
              <a:rPr lang="en-TW" dirty="0"/>
              <a:t>2026/4/12 23:59)</a:t>
            </a:r>
          </a:p>
          <a:p>
            <a:r>
              <a:rPr lang="en-US" b="1" dirty="0">
                <a:solidFill>
                  <a:srgbClr val="FF0000"/>
                </a:solidFill>
              </a:rPr>
              <a:t>Hard deadline, no late submission allowed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49F5A-085E-2DBE-966F-342CE0F186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42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4B191-BE21-F8DD-A84A-3EF873887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410A4-7D3A-C7B1-979D-469DE14D3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D65AA-F2E7-E9FB-0846-C06CCD3C2D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137D0E-4A4F-4307-8994-C1891D747D59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07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Vertical and Horizontal design templat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ustom 1">
      <a:majorFont>
        <a:latin typeface="Century Gothic"/>
        <a:ea typeface="微軟正黑體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wrap="square" rtlCol="0" anchor="ctr" anchorCtr="1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Vertical and horizontal design slides.potx" id="{7E307492-4344-40EC-954C-E30551E95991}" vid="{493C3130-E1FA-416B-8465-D41FAD56C1B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4FBFFFDBDAED7744A0115B0D44FCF537" ma:contentTypeVersion="5" ma:contentTypeDescription="建立新的文件。" ma:contentTypeScope="" ma:versionID="1c0153f1b443a5b3df562e01d688e562">
  <xsd:schema xmlns:xsd="http://www.w3.org/2001/XMLSchema" xmlns:xs="http://www.w3.org/2001/XMLSchema" xmlns:p="http://schemas.microsoft.com/office/2006/metadata/properties" xmlns:ns3="8e2c8b4a-8fde-4142-8f92-28b4791897da" xmlns:ns4="0c625418-3c66-4c98-b81c-cc3c7b7985df" targetNamespace="http://schemas.microsoft.com/office/2006/metadata/properties" ma:root="true" ma:fieldsID="ab38feb8f7b296b57594eab910804815" ns3:_="" ns4:_="">
    <xsd:import namespace="8e2c8b4a-8fde-4142-8f92-28b4791897da"/>
    <xsd:import namespace="0c625418-3c66-4c98-b81c-cc3c7b7985d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2c8b4a-8fde-4142-8f92-28b4791897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625418-3c66-4c98-b81c-cc3c7b7985d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共用提示雜湊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5B7BFAB-5BB1-4AF7-999A-55512A0113DB}">
  <ds:schemaRefs>
    <ds:schemaRef ds:uri="http://schemas.microsoft.com/office/infopath/2007/PartnerControls"/>
    <ds:schemaRef ds:uri="http://purl.org/dc/elements/1.1/"/>
    <ds:schemaRef ds:uri="0c625418-3c66-4c98-b81c-cc3c7b7985df"/>
    <ds:schemaRef ds:uri="http://purl.org/dc/terms/"/>
    <ds:schemaRef ds:uri="8e2c8b4a-8fde-4142-8f92-28b4791897da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5C7D3CD-06E1-40D9-AA3F-B479E47DB9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AEE8EC-4AFB-4790-9F45-356BE94A4C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e2c8b4a-8fde-4142-8f92-28b4791897da"/>
    <ds:schemaRef ds:uri="0c625418-3c66-4c98-b81c-cc3c7b7985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21171</TotalTime>
  <Words>2930</Words>
  <Application>Microsoft Macintosh PowerPoint</Application>
  <PresentationFormat>Widescreen</PresentationFormat>
  <Paragraphs>438</Paragraphs>
  <Slides>48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9" baseType="lpstr">
      <vt:lpstr>Century Gothic (本文)</vt:lpstr>
      <vt:lpstr>굴림</vt:lpstr>
      <vt:lpstr>Times Roman</vt:lpstr>
      <vt:lpstr>Arial</vt:lpstr>
      <vt:lpstr>Calibri</vt:lpstr>
      <vt:lpstr>Cambria Math</vt:lpstr>
      <vt:lpstr>Century Gothic</vt:lpstr>
      <vt:lpstr>Consolas</vt:lpstr>
      <vt:lpstr>Menlo</vt:lpstr>
      <vt:lpstr>Wingdings</vt:lpstr>
      <vt:lpstr>Vertical and Horizontal design template</vt:lpstr>
      <vt:lpstr>Robotic Navigation  and Exploration</vt:lpstr>
      <vt:lpstr>HW3 Overview</vt:lpstr>
      <vt:lpstr>HW3-1: Path Tracking</vt:lpstr>
      <vt:lpstr>PathTracking Environment</vt:lpstr>
      <vt:lpstr>PathTracking Environment</vt:lpstr>
      <vt:lpstr>PPO Algorithm</vt:lpstr>
      <vt:lpstr>PPO Algorithm</vt:lpstr>
      <vt:lpstr>PPO Algorithm</vt:lpstr>
      <vt:lpstr>Repo Structure</vt:lpstr>
      <vt:lpstr>(model.py) Diagonal Gaussian Distribution</vt:lpstr>
      <vt:lpstr>(model.py) Diagonal Gaussian Distribution</vt:lpstr>
      <vt:lpstr>(model.py) Policy Network</vt:lpstr>
      <vt:lpstr>TODO 1 (model.py)</vt:lpstr>
      <vt:lpstr>(model.py) Value Network</vt:lpstr>
      <vt:lpstr>TODO 2 (model.py)</vt:lpstr>
      <vt:lpstr>(env_runner.py) EnvRunner</vt:lpstr>
      <vt:lpstr>TODO 3 (env_runner.py)</vt:lpstr>
      <vt:lpstr>(agent.py) PPO</vt:lpstr>
      <vt:lpstr>TODO 4 (agent.py)</vt:lpstr>
      <vt:lpstr>TODO 5 (train.py)</vt:lpstr>
      <vt:lpstr>Shell Commands</vt:lpstr>
      <vt:lpstr>Experimental Results</vt:lpstr>
      <vt:lpstr>Setup Requirements</vt:lpstr>
      <vt:lpstr>HW3-2: Proly</vt:lpstr>
      <vt:lpstr>Proly</vt:lpstr>
      <vt:lpstr>Task</vt:lpstr>
      <vt:lpstr>Repo Structure</vt:lpstr>
      <vt:lpstr>MLGame3D</vt:lpstr>
      <vt:lpstr>(rl_play.py) Walkthrough</vt:lpstr>
      <vt:lpstr>TODO 6 (rl_play.py)</vt:lpstr>
      <vt:lpstr>(model_play.py) Walkthrough</vt:lpstr>
      <vt:lpstr>Observation Space</vt:lpstr>
      <vt:lpstr>Action Space</vt:lpstr>
      <vt:lpstr>terrain_grid</vt:lpstr>
      <vt:lpstr>Reward Example</vt:lpstr>
      <vt:lpstr>(kb_play.py) Walkthrough</vt:lpstr>
      <vt:lpstr>Setup Requirements</vt:lpstr>
      <vt:lpstr>Install Proly</vt:lpstr>
      <vt:lpstr>Training Command</vt:lpstr>
      <vt:lpstr>Inferencing Command</vt:lpstr>
      <vt:lpstr>Visualizing Training Metrics</vt:lpstr>
      <vt:lpstr>Submission</vt:lpstr>
      <vt:lpstr>Implementation Rules</vt:lpstr>
      <vt:lpstr>HW3-1: Score &amp; Requirement</vt:lpstr>
      <vt:lpstr>HW3-2: Score &amp; Requirement</vt:lpstr>
      <vt:lpstr>Submission Rules</vt:lpstr>
      <vt:lpstr>Deadline</vt:lpstr>
      <vt:lpstr>Question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HW4 DRL with Pytorch</dc:title>
  <dc:creator>胡敏君</dc:creator>
  <cp:lastModifiedBy>李逵安</cp:lastModifiedBy>
  <cp:revision>958</cp:revision>
  <dcterms:created xsi:type="dcterms:W3CDTF">2019-11-14T10:30:03Z</dcterms:created>
  <dcterms:modified xsi:type="dcterms:W3CDTF">2026-03-23T10:05:41Z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0x0101004FBFFFDBDAED7744A0115B0D44FCF537</vt:lpwstr>
  </property>
</Properties>
</file>